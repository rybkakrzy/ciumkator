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914400"/>
            <a:ext cx="3657600" cy="3657600"/>
          </a:xfrm>
          <a:prstGeom prst="ellipse">
            <a:avLst/>
          </a:prstGeom>
          <a:solidFill>
            <a:srgbClr val="EF2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583680" cy="8686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5400" b="1">
                <a:solidFill>
                  <a:srgbClr val="F8F8FC"/>
                </a:solidFill>
                <a:latin typeface="Aptos"/>
              </a:rPr>
              <a:t>Angular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7132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0">
                <a:solidFill>
                  <a:srgbClr val="BEC2D0"/>
                </a:solidFill>
                <a:latin typeface="Aptos"/>
              </a:rPr>
              <a:t>Reaktywność w Angularze bez nadmiarowej magii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4114800" cy="21945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2300">
                <a:solidFill>
                  <a:srgbClr val="F8F8FC"/>
                </a:solidFill>
                <a:latin typeface="Aptos"/>
              </a:defRPr>
            </a:pPr>
            <a:r>
              <a:t>signal()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300">
                <a:solidFill>
                  <a:srgbClr val="F8F8FC"/>
                </a:solidFill>
                <a:latin typeface="Aptos"/>
              </a:defRPr>
            </a:pPr>
            <a:r>
              <a:t>computed()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300">
                <a:solidFill>
                  <a:srgbClr val="F8F8FC"/>
                </a:solidFill>
                <a:latin typeface="Aptos"/>
              </a:defRPr>
            </a:pPr>
            <a:r>
              <a:t>effect()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300">
                <a:solidFill>
                  <a:srgbClr val="F8F8FC"/>
                </a:solidFill>
                <a:latin typeface="Aptos"/>
              </a:defRPr>
            </a:pPr>
            <a:r>
              <a:t>linkedSignal()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300">
                <a:solidFill>
                  <a:srgbClr val="F8F8FC"/>
                </a:solidFill>
                <a:latin typeface="Aptos"/>
              </a:defRPr>
            </a:pPr>
            <a:r>
              <a:t>RxJS interop</a:t>
            </a:r>
          </a:p>
        </p:txBody>
      </p:sp>
      <p:pic>
        <p:nvPicPr>
          <p:cNvPr id="8" name="Picture 7" descr="angul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965960"/>
            <a:ext cx="356616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080760"/>
            <a:ext cx="20116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8C92A6"/>
                </a:solidFill>
                <a:latin typeface="Aptos"/>
              </a:rPr>
              <a:t>PowerPoint · 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355080"/>
            <a:ext cx="320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7D829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7724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8F8FC"/>
                </a:solidFill>
                <a:latin typeface="Aptos"/>
              </a:rPr>
              <a:t>Po co Angular Signals?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8229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EC2D0"/>
                </a:solidFill>
                <a:latin typeface="Aptos"/>
              </a:rPr>
              <a:t>Problem: klasyczna detekcja zmian często sprawdza więcej, niż naprawdę trzeba.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969264"/>
            <a:ext cx="960120" cy="50292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291840" cy="352044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73152" cy="352044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56232"/>
            <a:ext cx="2880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Przed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58568"/>
            <a:ext cx="2880360" cy="2880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Stan bywa rozproszony między polami, RxJS i template.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Zmiana wartości nie zawsze jasno pokazuje, kto od niej zależy.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Łatwo używać RxJS tam, gdzie wystarczy lokalny stan.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291840" cy="352044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91640"/>
            <a:ext cx="73152" cy="3520440"/>
          </a:xfrm>
          <a:prstGeom prst="rect">
            <a:avLst/>
          </a:prstGeom>
          <a:solidFill>
            <a:srgbClr val="40D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56232"/>
            <a:ext cx="2880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Z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58568"/>
            <a:ext cx="2880360" cy="2880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Angular śledzi odczyty sygnałów.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Aktualizacje UI są bardziej granularne.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Stan lokalny w komponencie robi się prostszy.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291840" cy="352044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73152" cy="3520440"/>
          </a:xfrm>
          <a:prstGeom prst="rect">
            <a:avLst/>
          </a:prstGeom>
          <a:solidFill>
            <a:srgbClr val="54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56232"/>
            <a:ext cx="2880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Efekt praktyczny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58568"/>
            <a:ext cx="2880360" cy="2880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Czytelniejszy kod.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Mniej boilerplate.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Lepsza baza pod aplikacje zoneless i fine-grained rendering.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355080"/>
            <a:ext cx="320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7D829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7724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8F8FC"/>
                </a:solidFill>
                <a:latin typeface="Aptos"/>
              </a:rPr>
              <a:t>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8229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EC2D0"/>
                </a:solidFill>
                <a:latin typeface="Aptos"/>
              </a:rPr>
              <a:t>Signal to wartość + mechanizm powiadamiania konsumentów o zmianie.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969264"/>
            <a:ext cx="960120" cy="50292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4617720" y="2148840"/>
            <a:ext cx="2834640" cy="1188720"/>
          </a:xfrm>
          <a:prstGeom prst="hexagon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487168"/>
            <a:ext cx="24688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600" b="1">
                <a:solidFill>
                  <a:srgbClr val="F8F8FC"/>
                </a:solidFill>
                <a:latin typeface="Aptos"/>
              </a:rPr>
              <a:t>signal&lt;T&gt;()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508760"/>
            <a:ext cx="2743200" cy="114300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508760"/>
            <a:ext cx="73152" cy="1143000"/>
          </a:xfrm>
          <a:prstGeom prst="rect">
            <a:avLst/>
          </a:prstGeom>
          <a:solidFill>
            <a:srgbClr val="54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673352"/>
            <a:ext cx="23317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8F8FC"/>
                </a:solidFill>
                <a:latin typeface="Aptos"/>
              </a:rPr>
              <a:t>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75688"/>
            <a:ext cx="233172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400">
                <a:solidFill>
                  <a:srgbClr val="BEC2D0"/>
                </a:solidFill>
                <a:latin typeface="Aptos"/>
              </a:defRPr>
            </a:pPr>
            <a:r>
              <a:t>{{ count() 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60520"/>
            <a:ext cx="2743200" cy="114300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160520"/>
            <a:ext cx="73152" cy="1143000"/>
          </a:xfrm>
          <a:prstGeom prst="rect">
            <a:avLst/>
          </a:prstGeom>
          <a:solidFill>
            <a:srgbClr val="40D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325112"/>
            <a:ext cx="23317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8F8FC"/>
                </a:solidFill>
                <a:latin typeface="Aptos"/>
              </a:rPr>
              <a:t>computed()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727448"/>
            <a:ext cx="233172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400">
                <a:solidFill>
                  <a:srgbClr val="BEC2D0"/>
                </a:solidFill>
                <a:latin typeface="Aptos"/>
              </a:defRPr>
            </a:pPr>
            <a:r>
              <a:t>double = count()*2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508760"/>
            <a:ext cx="2743200" cy="114300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1508760"/>
            <a:ext cx="73152" cy="114300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673352"/>
            <a:ext cx="23317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8F8FC"/>
                </a:solidFill>
                <a:latin typeface="Aptos"/>
              </a:rPr>
              <a:t>effect()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075688"/>
            <a:ext cx="233172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400">
                <a:solidFill>
                  <a:srgbClr val="BEC2D0"/>
                </a:solidFill>
                <a:latin typeface="Aptos"/>
              </a:defRPr>
            </a:pPr>
            <a:r>
              <a:t>log / side effect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4160520"/>
            <a:ext cx="2743200" cy="114300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66760" y="4160520"/>
            <a:ext cx="73152" cy="1143000"/>
          </a:xfrm>
          <a:prstGeom prst="rect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325112"/>
            <a:ext cx="23317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8F8FC"/>
                </a:solidFill>
                <a:latin typeface="Aptos"/>
              </a:rPr>
              <a:t>Inny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727448"/>
            <a:ext cx="233172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400">
                <a:solidFill>
                  <a:srgbClr val="BEC2D0"/>
                </a:solidFill>
                <a:latin typeface="Aptos"/>
              </a:defRPr>
            </a:pPr>
            <a:r>
              <a:t>linked state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3657600" y="2066543"/>
            <a:ext cx="868680" cy="603505"/>
          </a:xfrm>
          <a:prstGeom prst="line">
            <a:avLst/>
          </a:prstGeom>
          <a:ln w="19050">
            <a:solidFill>
              <a:srgbClr val="6E7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657600" y="2852928"/>
            <a:ext cx="868680" cy="1856232"/>
          </a:xfrm>
          <a:prstGeom prst="line">
            <a:avLst/>
          </a:prstGeom>
          <a:ln w="19050">
            <a:solidFill>
              <a:srgbClr val="6E7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498079" y="2066543"/>
            <a:ext cx="804673" cy="603505"/>
          </a:xfrm>
          <a:prstGeom prst="line">
            <a:avLst/>
          </a:prstGeom>
          <a:ln w="19050">
            <a:solidFill>
              <a:srgbClr val="6E7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98079" y="2852928"/>
            <a:ext cx="804673" cy="1856232"/>
          </a:xfrm>
          <a:prstGeom prst="line">
            <a:avLst/>
          </a:prstGeom>
          <a:ln w="19050">
            <a:solidFill>
              <a:srgbClr val="6E74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0120" y="5715000"/>
            <a:ext cx="100584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0">
                <a:solidFill>
                  <a:srgbClr val="BEC2D0"/>
                </a:solidFill>
                <a:latin typeface="Aptos"/>
              </a:rPr>
              <a:t>Odczyt przez wywołanie funkcji, np. count(), pozwala Angularowi zapamiętać zależność.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355080"/>
            <a:ext cx="320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7D829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7724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8F8FC"/>
                </a:solidFill>
                <a:latin typeface="Aptos"/>
              </a:rPr>
              <a:t>Podstawowe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8229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EC2D0"/>
                </a:solidFill>
                <a:latin typeface="Aptos"/>
              </a:rPr>
              <a:t>Trzy elementy, które wystarczą do większości lokalnego stanu.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969264"/>
            <a:ext cx="960120" cy="50292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486400" cy="4206240"/>
          </a:xfrm>
          <a:prstGeom prst="roundRect">
            <a:avLst/>
          </a:prstGeom>
          <a:solidFill>
            <a:srgbClr val="0C0E14"/>
          </a:solidFill>
          <a:ln>
            <a:solidFill>
              <a:srgbClr val="46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3886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  <a:latin typeface="Consolas"/>
              </a:rPr>
              <a:t>import { signal, computed, effect } from '@angular/core';
const count = signal(0);
count.set(1);
count.update(value =&gt; value + 1);
const doubled = computed(() =&gt; count() * 2);
effect(() =&gt; {
  console.log(`Current value: ${count()}`);
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600200"/>
            <a:ext cx="4663440" cy="114300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9400" y="1600200"/>
            <a:ext cx="73152" cy="11430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764792"/>
            <a:ext cx="4251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signal()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67128"/>
            <a:ext cx="425196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WritableSignal — można ustawiać przez set() i update().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017520"/>
            <a:ext cx="4663440" cy="114300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3017520"/>
            <a:ext cx="73152" cy="1143000"/>
          </a:xfrm>
          <a:prstGeom prst="rect">
            <a:avLst/>
          </a:prstGeom>
          <a:solidFill>
            <a:srgbClr val="40D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182112"/>
            <a:ext cx="4251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computed()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584448"/>
            <a:ext cx="425196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Read-only, lazy, memoizowane wartości pochodne.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4434840"/>
            <a:ext cx="4663440" cy="114300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4434840"/>
            <a:ext cx="73152" cy="114300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599432"/>
            <a:ext cx="4251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effect()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001768"/>
            <a:ext cx="425196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Reakcja na zmiany; stosuj głównie do side effectów.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355080"/>
            <a:ext cx="320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7D829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7724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8F8FC"/>
                </a:solidFill>
                <a:latin typeface="Aptos"/>
              </a:rPr>
              <a:t>Signals w komponencie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8229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EC2D0"/>
                </a:solidFill>
                <a:latin typeface="Aptos"/>
              </a:rPr>
              <a:t>Najczęstszy pattern: stan komponentu + wartości pochodne + prosty template.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969264"/>
            <a:ext cx="960120" cy="50292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6400800" cy="4754880"/>
          </a:xfrm>
          <a:prstGeom prst="roundRect">
            <a:avLst/>
          </a:prstGeom>
          <a:solidFill>
            <a:srgbClr val="0C0E14"/>
          </a:solidFill>
          <a:ln>
            <a:solidFill>
              <a:srgbClr val="46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5943600" cy="44348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>
                <a:solidFill>
                  <a:srgbClr val="E0E7FF"/>
                </a:solidFill>
                <a:latin typeface="Consolas"/>
              </a:rPr>
              <a:t>@Component({
  selector: 'app-counter',
  template: `
    &lt;button (click)="increment()"&gt;+&lt;/button&gt;
    &lt;p&gt;Count: {{ count() }}&lt;/p&gt;
    &lt;p&gt;Double: {{ doubled() }}&lt;/p&gt;
  `
})
export class CounterComponent {
  readonly count = signal(0);
  readonly doubled = computed(() =&gt; this.count() * 2);
  increment(): void {
    this.count.update(value =&gt; value + 1);
  }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00200"/>
            <a:ext cx="3749039" cy="123444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600200"/>
            <a:ext cx="73152" cy="1234440"/>
          </a:xfrm>
          <a:prstGeom prst="rect">
            <a:avLst/>
          </a:prstGeom>
          <a:solidFill>
            <a:srgbClr val="54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764792"/>
            <a:ext cx="333755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Ważne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167128"/>
            <a:ext cx="3337559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W template odczytujesz signal jako funkcję: count().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154680"/>
            <a:ext cx="3749039" cy="123444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3154680"/>
            <a:ext cx="73152" cy="123444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319272"/>
            <a:ext cx="333755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Nie mutuj obiektów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721608"/>
            <a:ext cx="3337559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Dla tablic i obiektów twórz nową referencję.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709160"/>
            <a:ext cx="3749039" cy="123444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4709160"/>
            <a:ext cx="73152" cy="1234440"/>
          </a:xfrm>
          <a:prstGeom prst="rect">
            <a:avLst/>
          </a:prstGeom>
          <a:solidFill>
            <a:srgbClr val="40D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4873752"/>
            <a:ext cx="333755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Readonly by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5276088"/>
            <a:ext cx="3337559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Eksponuj publicznie tylko to, co musi być zmienialne.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355080"/>
            <a:ext cx="320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7D829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7724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8F8FC"/>
                </a:solidFill>
                <a:latin typeface="Aptos"/>
              </a:rPr>
              <a:t>Signal-based Angular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8229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EC2D0"/>
                </a:solidFill>
                <a:latin typeface="Aptos"/>
              </a:rPr>
              <a:t>Signals to nie tylko signal(). Angular przenosi reaktywność także do API komponentów.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969264"/>
            <a:ext cx="960120" cy="50292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3200400" cy="137160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08760"/>
            <a:ext cx="73152" cy="137160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2788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input()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75688"/>
            <a:ext cx="2788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Input jako signal; można używać w computed() i effect().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08760"/>
            <a:ext cx="3200400" cy="137160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508760"/>
            <a:ext cx="73152" cy="1371600"/>
          </a:xfrm>
          <a:prstGeom prst="rect">
            <a:avLst/>
          </a:prstGeom>
          <a:solidFill>
            <a:srgbClr val="54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673352"/>
            <a:ext cx="2788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viewChild() /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075688"/>
            <a:ext cx="2788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Zapytania zwracają sygnały z aktualnym wynikiem.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08760"/>
            <a:ext cx="3200400" cy="137160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73152" cy="1371600"/>
          </a:xfrm>
          <a:prstGeom prst="rect">
            <a:avLst/>
          </a:prstGeom>
          <a:solidFill>
            <a:srgbClr val="40D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73352"/>
            <a:ext cx="2788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linkedSignal()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75688"/>
            <a:ext cx="2788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Writable state powiązany z innym stanem, np. wybór z listy.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657600"/>
            <a:ext cx="5074920" cy="1645920"/>
          </a:xfrm>
          <a:prstGeom prst="roundRect">
            <a:avLst/>
          </a:prstGeom>
          <a:solidFill>
            <a:srgbClr val="0C0E14"/>
          </a:solidFill>
          <a:ln>
            <a:solidFill>
              <a:srgbClr val="46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840480"/>
            <a:ext cx="4617720" cy="1325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  <a:latin typeface="Consolas"/>
              </a:rPr>
              <a:t>readonly options = signal(['Basic', 'Pro', 'Enterprise']);
readonly selected = linkedSignal(() =&gt; this.options()[0]);
select(option: string): void {
  this.selected.set(option);
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22191"/>
            <a:ext cx="4663440" cy="10515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Dobry use case: gdy zmiana źródła powinna zresetować lub skorygować zależny stan użytkownika.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09160"/>
            <a:ext cx="466344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BEC2D0"/>
                </a:solidFill>
                <a:latin typeface="Aptos"/>
              </a:rPr>
              <a:t>Przykład: lista metod dostawy zmienia się po zmianie kraju, więc wybrana metoda nie może wskazywać nieistniejącej opcji.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355080"/>
            <a:ext cx="320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7D829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7724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8F8FC"/>
                </a:solidFill>
                <a:latin typeface="Aptos"/>
              </a:rPr>
              <a:t>Signals vs RxJS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8229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EC2D0"/>
                </a:solidFill>
                <a:latin typeface="Aptos"/>
              </a:rPr>
              <a:t>To nie jest „albo-albo”. Najlepszy kod często używa obu narzędzi.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969264"/>
            <a:ext cx="960120" cy="50292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4937760" cy="402336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73152" cy="402336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73352"/>
            <a:ext cx="45262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8F8FC"/>
                </a:solidFill>
                <a:latin typeface="Aptos"/>
              </a:rPr>
              <a:t>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75688"/>
            <a:ext cx="4526280" cy="33832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Stan synchroniczny.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Lokalny stan komponentu.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Wartości pochodne w UI.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Prosty model odczytu i zapisu.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508760"/>
            <a:ext cx="4937760" cy="402336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508760"/>
            <a:ext cx="73152" cy="4023360"/>
          </a:xfrm>
          <a:prstGeom prst="rect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673352"/>
            <a:ext cx="45262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8F8FC"/>
                </a:solidFill>
                <a:latin typeface="Aptos"/>
              </a:rPr>
              <a:t>RxJS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075688"/>
            <a:ext cx="4526280" cy="33832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Strumienie asynchroniczne.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Zdarzenia w czasie.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Anulowanie, debounce, retry, merge.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Integracja z HTTP, routerem i formularzami.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806440"/>
            <a:ext cx="102412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F8F8FC"/>
                </a:solidFill>
                <a:latin typeface="Aptos"/>
              </a:rPr>
              <a:t>Interop: toSignal() oraz toObservable() pomagają łączyć oba światy.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355080"/>
            <a:ext cx="320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7D829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7724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8F8FC"/>
                </a:solidFill>
                <a:latin typeface="Aptos"/>
              </a:rPr>
              <a:t>Async state: resource / httpResource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8229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EC2D0"/>
                </a:solidFill>
                <a:latin typeface="Aptos"/>
              </a:rPr>
              <a:t>Nowe API dla danych asynchronicznych budowanych wokół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969264"/>
            <a:ext cx="960120" cy="50292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852160" cy="3291840"/>
          </a:xfrm>
          <a:prstGeom prst="roundRect">
            <a:avLst/>
          </a:prstGeom>
          <a:solidFill>
            <a:srgbClr val="0C0E14"/>
          </a:solidFill>
          <a:ln>
            <a:solidFill>
              <a:srgbClr val="46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5394960" cy="2971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E0E7FF"/>
                </a:solidFill>
                <a:latin typeface="Consolas"/>
              </a:rPr>
              <a:t>readonly userId = signal('42');
readonly user = resource({
  params: () =&gt; ({ id: this.userId() }),
  loader: ({ request, abortSignal }) =&gt;
    fetch(`/api/users/${request.id}`, { signal: abortSignal })
      .then(response =&gt; response.json())
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463040"/>
            <a:ext cx="4206240" cy="105156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1463040"/>
            <a:ext cx="73152" cy="1051560"/>
          </a:xfrm>
          <a:prstGeom prst="rect">
            <a:avLst/>
          </a:prstGeom>
          <a:solidFill>
            <a:srgbClr val="40D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627632"/>
            <a:ext cx="37947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Co dostajesz?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029968"/>
            <a:ext cx="37947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value, loading/error state oraz reakcję na zmianę parametru.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88920"/>
            <a:ext cx="4206240" cy="105156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788920"/>
            <a:ext cx="73152" cy="1051560"/>
          </a:xfrm>
          <a:prstGeom prst="rect">
            <a:avLst/>
          </a:prstGeom>
          <a:solidFill>
            <a:srgbClr val="54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953512"/>
            <a:ext cx="37947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Dlaczego ważne?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355848"/>
            <a:ext cx="37947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Mniej ręcznego spinania loading/error w komponencie.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4114800"/>
            <a:ext cx="4206240" cy="1051560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4114800"/>
            <a:ext cx="73152" cy="1051560"/>
          </a:xfrm>
          <a:prstGeom prst="rect">
            <a:avLst/>
          </a:prstGeom>
          <a:solidFill>
            <a:srgbClr val="FFC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4279392"/>
            <a:ext cx="37947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8F8FC"/>
                </a:solidFill>
                <a:latin typeface="Aptos"/>
              </a:rPr>
              <a:t>Uwaga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4681728"/>
            <a:ext cx="379476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resource i httpResource są traktowane jako API eksperymentalne w komunikatach Angular v20.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355080"/>
            <a:ext cx="320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7D829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7724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8F8FC"/>
                </a:solidFill>
                <a:latin typeface="Aptos"/>
              </a:rPr>
              <a:t>Dobre praktyki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8229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EC2D0"/>
                </a:solidFill>
                <a:latin typeface="Aptos"/>
              </a:rPr>
              <a:t>Signals są proste, ale nadal można nimi skomplikować kod.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969264"/>
            <a:ext cx="960120" cy="50292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337560" cy="1874519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1874519"/>
          </a:xfrm>
          <a:prstGeom prst="rect">
            <a:avLst/>
          </a:prstGeom>
          <a:solidFill>
            <a:srgbClr val="40D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81912"/>
            <a:ext cx="2926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F8F8FC"/>
                </a:solidFill>
                <a:latin typeface="Aptos"/>
              </a:rPr>
              <a:t>1. computed zamiast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2926080" cy="1234439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Jeżeli wynik można wyliczyć ze stanu, użyj computed(). effect() zostaw dla side effectów.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337560" cy="1874519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73152" cy="1874519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81912"/>
            <a:ext cx="2926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F8F8FC"/>
                </a:solidFill>
                <a:latin typeface="Aptos"/>
              </a:rPr>
              <a:t>2. Niemutowalne update’y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984248"/>
            <a:ext cx="2926080" cy="1234439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Nie rób push() na tablicy w sygnale. Użyj update() i zwróć nową tablicę.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337560" cy="1874519"/>
          </a:xfrm>
          <a:prstGeom prst="roundRect">
            <a:avLst/>
          </a:prstGeom>
          <a:solidFill>
            <a:srgbClr val="25283A"/>
          </a:solidFill>
          <a:ln w="12700">
            <a:solidFill>
              <a:srgbClr val="37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1874519"/>
          </a:xfrm>
          <a:prstGeom prst="rect">
            <a:avLst/>
          </a:prstGeom>
          <a:solidFill>
            <a:srgbClr val="54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81912"/>
            <a:ext cx="2926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F8F8FC"/>
                </a:solidFill>
                <a:latin typeface="Aptos"/>
              </a:rPr>
              <a:t>3. Mały zakres stanu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84248"/>
            <a:ext cx="2926080" cy="1234439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500">
                <a:solidFill>
                  <a:srgbClr val="BEC2D0"/>
                </a:solidFill>
                <a:latin typeface="Aptos"/>
              </a:defRPr>
            </a:pPr>
            <a:r>
              <a:t>Trzymaj sygnały blisko miejsca użycia. Nie twórz globalnego store bez potrzeby.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977639"/>
            <a:ext cx="3886200" cy="1417320"/>
          </a:xfrm>
          <a:prstGeom prst="roundRect">
            <a:avLst/>
          </a:prstGeom>
          <a:solidFill>
            <a:srgbClr val="0C0E14"/>
          </a:solidFill>
          <a:ln>
            <a:solidFill>
              <a:srgbClr val="46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4160519"/>
            <a:ext cx="3429000" cy="10972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0E7FF"/>
                </a:solidFill>
                <a:latin typeface="Consolas"/>
              </a:rPr>
              <a:t>// źle
todos().push(newTodo);
// dobrze
todos.update(items =&gt; [...items, newTodo]);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977639"/>
            <a:ext cx="3886200" cy="1417320"/>
          </a:xfrm>
          <a:prstGeom prst="roundRect">
            <a:avLst/>
          </a:prstGeom>
          <a:solidFill>
            <a:srgbClr val="0C0E14"/>
          </a:solidFill>
          <a:ln>
            <a:solidFill>
              <a:srgbClr val="46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160519"/>
            <a:ext cx="3429000" cy="10972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0E7FF"/>
                </a:solidFill>
                <a:latin typeface="Consolas"/>
              </a:rPr>
              <a:t>// dobrze
readonly visibleTodos = computed(() =&gt;
  this.todos().filter(todo =&gt; !todo.done)
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355080"/>
            <a:ext cx="320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7D829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7724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8F8FC"/>
                </a:solidFill>
                <a:latin typeface="Aptos"/>
              </a:rPr>
              <a:t>Plan wdrożenia w projekcie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8229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EC2D0"/>
                </a:solidFill>
                <a:latin typeface="Aptos"/>
              </a:rPr>
              <a:t>Najbezpieczniej migrować stopniowo, zaczynając od miejsc o niskim ryzyku.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969264"/>
            <a:ext cx="960120" cy="50292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47672"/>
            <a:ext cx="685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8F8FC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73736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8F8FC"/>
                </a:solidFill>
                <a:latin typeface="Aptos"/>
              </a:rPr>
              <a:t>Lokalny stan komponentów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192024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BEC2D0"/>
                </a:solidFill>
                <a:latin typeface="Aptos"/>
              </a:rPr>
              <a:t>liczniki, filtry, selected item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54480" y="2167128"/>
            <a:ext cx="1234440" cy="0"/>
          </a:xfrm>
          <a:prstGeom prst="line">
            <a:avLst/>
          </a:prstGeom>
          <a:ln w="25400">
            <a:solidFill>
              <a:srgbClr val="5A6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063240" y="1828800"/>
            <a:ext cx="685800" cy="685800"/>
          </a:xfrm>
          <a:prstGeom prst="ellipse">
            <a:avLst/>
          </a:prstGeom>
          <a:solidFill>
            <a:srgbClr val="EF2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1947672"/>
            <a:ext cx="685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8F8FC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788920"/>
            <a:ext cx="173736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8F8FC"/>
                </a:solidFill>
                <a:latin typeface="Aptos"/>
              </a:rPr>
              <a:t>computed dla pochodnych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474720"/>
            <a:ext cx="192024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BEC2D0"/>
                </a:solidFill>
                <a:latin typeface="Aptos"/>
              </a:rPr>
              <a:t>bez ręcznego synchronizowania pól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94760" y="2167128"/>
            <a:ext cx="1234440" cy="0"/>
          </a:xfrm>
          <a:prstGeom prst="line">
            <a:avLst/>
          </a:prstGeom>
          <a:ln w="25400">
            <a:solidFill>
              <a:srgbClr val="5A6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303520" y="1828800"/>
            <a:ext cx="685800" cy="68580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947672"/>
            <a:ext cx="685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8F8FC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788920"/>
            <a:ext cx="173736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8F8FC"/>
                </a:solidFill>
                <a:latin typeface="Aptos"/>
              </a:rPr>
              <a:t>input() tam, gdzie pasuje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474720"/>
            <a:ext cx="192024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BEC2D0"/>
                </a:solidFill>
                <a:latin typeface="Aptos"/>
              </a:rPr>
              <a:t>nowe komponenty i refaktoryzacje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0" y="2167128"/>
            <a:ext cx="1234440" cy="0"/>
          </a:xfrm>
          <a:prstGeom prst="line">
            <a:avLst/>
          </a:prstGeom>
          <a:ln w="25400">
            <a:solidFill>
              <a:srgbClr val="5A6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43800" y="1828800"/>
            <a:ext cx="685800" cy="685800"/>
          </a:xfrm>
          <a:prstGeom prst="ellipse">
            <a:avLst/>
          </a:prstGeom>
          <a:solidFill>
            <a:srgbClr val="54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1947672"/>
            <a:ext cx="685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8F8FC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788920"/>
            <a:ext cx="173736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8F8FC"/>
                </a:solidFill>
                <a:latin typeface="Aptos"/>
              </a:rPr>
              <a:t>Interop z RxJS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474720"/>
            <a:ext cx="192024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BEC2D0"/>
                </a:solidFill>
                <a:latin typeface="Aptos"/>
              </a:rPr>
              <a:t>toSignal(), toObservable()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75320" y="2167128"/>
            <a:ext cx="1234440" cy="0"/>
          </a:xfrm>
          <a:prstGeom prst="line">
            <a:avLst/>
          </a:prstGeom>
          <a:ln w="25400">
            <a:solidFill>
              <a:srgbClr val="5A6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784080" y="1828800"/>
            <a:ext cx="685800" cy="685800"/>
          </a:xfrm>
          <a:prstGeom prst="ellipse">
            <a:avLst/>
          </a:prstGeom>
          <a:solidFill>
            <a:srgbClr val="40D2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947672"/>
            <a:ext cx="685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8F8FC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788920"/>
            <a:ext cx="173736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F8F8FC"/>
                </a:solidFill>
                <a:latin typeface="Aptos"/>
              </a:rPr>
              <a:t>Dopiero potem 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3474720"/>
            <a:ext cx="192024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BEC2D0"/>
                </a:solidFill>
                <a:latin typeface="Aptos"/>
              </a:rPr>
              <a:t>wzorce zespołowe i testy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349240"/>
            <a:ext cx="96012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F8F8FC"/>
                </a:solidFill>
                <a:latin typeface="Aptos"/>
              </a:rPr>
              <a:t>Cel: mniejszy koszt poznawczy bez przepisywania całej aplikacji na raz.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355080"/>
            <a:ext cx="320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7D829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7724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8F8FC"/>
                </a:solidFill>
                <a:latin typeface="Aptos"/>
              </a:rP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8229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EC2D0"/>
                </a:solidFill>
                <a:latin typeface="Aptos"/>
              </a:rPr>
              <a:t>Angular Signals warto traktować jako podstawowy prymityw lokalnej reaktywności.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969264"/>
            <a:ext cx="960120" cy="50292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6583680" cy="35204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F8F8FC"/>
                </a:solidFill>
                <a:latin typeface="Aptos"/>
              </a:defRPr>
            </a:pPr>
            <a:r>
              <a:t>Signals upraszczają lokalny stan i wartości pochodne.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F8F8FC"/>
                </a:solidFill>
                <a:latin typeface="Aptos"/>
              </a:defRPr>
            </a:pPr>
            <a:r>
              <a:t>computed() jest domyślnym wyborem dla pochodnych danych.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F8F8FC"/>
                </a:solidFill>
                <a:latin typeface="Aptos"/>
              </a:defRPr>
            </a:pPr>
            <a:r>
              <a:t>effect() stosuj ostrożnie — głównie do side effectów.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F8F8FC"/>
                </a:solidFill>
                <a:latin typeface="Aptos"/>
              </a:defRPr>
            </a:pPr>
            <a:r>
              <a:t>RxJS nadal zostaje najlepszy dla strumieni i złożonej asynchroniczności.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F8F8FC"/>
                </a:solidFill>
                <a:latin typeface="Aptos"/>
              </a:defRPr>
            </a:pPr>
            <a:r>
              <a:t>Migracja powinna być stopniowa i pragmatyczna.</a:t>
            </a:r>
          </a:p>
        </p:txBody>
      </p:sp>
      <p:pic>
        <p:nvPicPr>
          <p:cNvPr id="8" name="Picture 7" descr="angula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920240"/>
            <a:ext cx="256032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75320" y="4526280"/>
            <a:ext cx="27432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600" b="1">
                <a:solidFill>
                  <a:srgbClr val="F8F8FC"/>
                </a:solidFill>
                <a:latin typeface="Aptos"/>
              </a:rPr>
              <a:t>Pytania?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355080"/>
            <a:ext cx="320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7D829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280160"/>
            <a:ext cx="3840480" cy="3840480"/>
          </a:xfrm>
          <a:prstGeom prst="ellipse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389120"/>
            <a:ext cx="2011680" cy="2011680"/>
          </a:xfrm>
          <a:prstGeom prst="ellipse">
            <a:avLst/>
          </a:prstGeom>
          <a:solidFill>
            <a:srgbClr val="8F4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77724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8F8FC"/>
                </a:solidFill>
                <a:latin typeface="Aptos"/>
              </a:rPr>
              <a:t>Źródła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78992"/>
            <a:ext cx="8229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BEC2D0"/>
                </a:solidFill>
                <a:latin typeface="Aptos"/>
              </a:rPr>
              <a:t>Materiały użyte do przygotowania prezentacji.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969264"/>
            <a:ext cx="960120" cy="50292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607040" cy="42976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Angular Docs — Signals overview: https://angular.dev/guide/signals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Angular Docs — linkedSignal: https://angular.dev/guide/signals/linked-signal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Angular Docs — RxJS interop: https://angular.dev/ecosystem/rxjs-interop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Angular Blog — Announcing Angular v20: https://blog.angular.dev/announcing-angular-v20-b5c9c06cf301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BEC2D0"/>
                </a:solidFill>
                <a:latin typeface="Aptos"/>
              </a:defRPr>
            </a:pPr>
            <a:r>
              <a:t>Google Codelab — Getting started with Angular Signals: https://codelabs.developers.google.com/angular-signals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55080"/>
            <a:ext cx="320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7D829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