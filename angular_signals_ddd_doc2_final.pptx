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3744" autoAdjust="0"/>
  </p:normalViewPr>
  <p:slideViewPr>
    <p:cSldViewPr snapToGrid="0" snapToObjects="1">
      <p:cViewPr varScale="1">
        <p:scale>
          <a:sx n="63" d="100"/>
          <a:sy n="63" d="100"/>
        </p:scale>
        <p:origin x="142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980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Chcę zacząć od jednej bardzo prostej tezy.
Signals rozwiązują problem reaktywności.
DDD rozwiązuje problem odpowiedzialności.
To są dwa różne problemy.
W projekcie Doc2 bardzo dobrze widać moment, w którym jedno bez drugiego przestaje wystarczać.
DocumentEditorComponent urósł do miejsca, w którym trzyma dane dokumentu, stan edytora, stan interfejsu i jeszcze orkiestrację zapisu.
Sam fakt, że mamy dużo sygnałów, nie jest jeszcze błędem.
Problem zaczyna się wtedy, gdy jeden komponent przestaje mieć jedną odpowiedzialność.
I dokładnie o tym będzie ta prezentacja.
Nie o tym, czy Signals są dobre.
Tylko o tym, gdzie kończy się reaktywność, a zaczyna architektura.
[Sources]
- User-provided code snippets from Doc2 repository: D2GuiViewerEditor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dużych frontendach chaos bardzo rzadko bierze się z samego frameworka.
Zwykle bierze się z tego, że aplikacja rośnie szybciej niż architektura.
W Doc2 w jednym komponencie obok siebie siedzą sygnały UI i dane dokumentu.
To oznacza, że komponent zna za dużo.
Drugi problem jest bardziej subtelny.
DocumentContent jest DTO transportowym z API.
Ono opisuje to, co przyszło z backendu.
Ale frontend zaczyna używać go jak modelu domenowego.
To jest ważne rozróżnienie.
DTO opisuje transport.
Model domenowy opisuje znaczenie.
Jeśli pracujemy bezpośrednio na DTO, to wcześniej czy później logika biznesowa zaczyna rozlewać się po komponentach.
[Sources]
- User-provided code snippets from Doc2 repository: D2GuiViewerEditor and D2ApiViewerEditor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tej prezentacji nie chcę robić z Signals religii.
Chcę je ustawić bardzo precyzyjnie.
signal daje źródło prawdy dla stanu.
computed daje stan pochodny albo projekcję.
effect służy do synchronizacji z tym, co jest poza samym reactive graph.
Najlepszy przykład z Doc2 to ConnectionStatusService.
Serwis ma prywatne sygnały i publiczną projekcję.
To jest bardzo zdrowy wzorzec.
Signals błyszczą wtedy, gdy rozwiązują prosty problem.
Czyli lokalny stan, odczyt i projekcję dla UI.
Nie rozwiązują same z siebie problemu architektury.
I właśnie dlatego potrzebujemy drugiej osi, czyli odpowiedzialności.
[Sources]
- User-provided code snippets from Doc2 repository: D2GuiViewerEditor
- Angular Signals Guide: https://angular.dev/guide/signals
- Angular Effects Guide: https://angular.dev/guide/signals/effect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kluczowe rozróżnienie tej prezentacji.
UI state odpowiada na pytanie, jak wygląda interfejs.
Domain state odpowiada na pytanie, jakie decyzje biznesowe są aktualnie prawdziwe.
showMenu i zoomLevel to czysty UI state.
Ale pytanie czy dokument można zapisać nie jest pytaniem o interfejs.
To jest pytanie o regułę.
W Doc2 mamy jeszcze coś pośrodku, czyli EditorState.
To nie jest już tylko UI, ale to jeszcze nie jest pełny model domenowy.
I to jest bardzo ciekawy punkt architektoniczny.
Backend ma już nazwane decyzje domenowe, na przykład dodawanie wersji dokumentu.
Frontend takiego modelu jeszcze nie ma.
I dlatego część decyzji jest rozstrzygana ad hoc w komponencie.
[Sources]
- User-provided code snippets from Doc2 repository: D2GuiViewerEditor and D2ApiViewerEditor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najmocniejszy przykład w całym projekcie.
I moim zdaniem najlepiej pokazuje, gdzie kończy się wygoda Signals, a zaczyna problem architektury.
saveDocument nie tylko reaguje na kliknięcie.
On sam rozstrzyga, czy zapis w ogóle ma sens.
Potem uruchamia zapis.
Potem obsługuje wynik.
Potem steruje stanem interfejsu po zakończeniu operacji.
Czyli komponent robi decyzję, orkiestrację, integrację i prezentację wyniku.
To nie jest już rola UI.
To jest use case.
I właśnie tutaj przydaje się myślenie domenowe albo przynajmniej warstwa aplikacyjna.
Bo sam mechanizm reaktywności nie rozwiąże pomieszania odpowiedzialności.
[Sources]
- User-provided code snippets from Doc2 repository: D2GuiViewerEditor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 jest bardzo ciekawe w Doc2, to asymetria między backendem a frontendem.
Backend jest już architektonicznie poukładany.
Ma command, handler, wynik i wyraźny use case.
Frontend jest w połowie tej drogi.
Z jednej strony EditorToolbarComponent jest zrobiony bardzo dobrze.
On nie mutuje niczego bezpośrednio.
On emituje intencję użytkownika.
To jest bardzo dojrzały wzorzec.
Z drugiej strony główny komponent edytora nie ma jeszcze odpowiednika fasady albo warstwy use case’ów.
I właśnie tam powstaje największe przeciążenie odpowiedzialności.
Ten slajd nie mówi więc tylko jak powinno być.
On pokazuje, że część dobrych wzorców już w projekcie istnieje i można je rozciągnąć na resztę systemu.
[Sources]
- User-provided code snippets from Doc2 repository: D2GuiViewerEditor and D2ApiViewerEditor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najczystszy przykład w całym projekcie.
I dlatego właśnie warto go pokazać jako wzorzec docelowy.
Serwis ma swoje prywatne źródła prawdy.
Serwis wylicza gotową odpowiedź dla widoku.
Komponent niczego nie rozstrzyga.
On tylko renderuje projekcję.
To jest bardzo zdrowy podział odpowiedzialności.
I to pokazuje, że Signals działają świetnie, kiedy są osadzone w dobrej granicy.
Nie trzeba ich wtedy ratować dodatkowymi wzorcami.
Wystarczy, że nie każemy komponentowi robić zbyt wielu rzeczy naraz.
To jest dokładnie taki kierunek, w jakim warto przesuwać sam DocumentEditorComponent.
[Sources]
- User-provided code snippets from Doc2 repository: D2GuiViewerEditor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slajd bardzo porządkuje dyskusję.
Pytanie Signals czy RxJS jest źle postawione.
To nie są narzędzia do tego samego problemu.
W Doc2 bardzo dobrze to widać.
Jeśli zmienia się parametr URL i trzeba anulować poprzednie ładowanie dokumentu, to RxJS jest naturalnym wyborem.
switchMap jest tu dokładnie tym, czego potrzebujemy.
Ale jeśli chcę tylko trzymać stan ładowania, błąd albo zoom i czytać go bezpośrednio w szablonie, to Signals są prostsze.
To nie jest wojna technologii.
To jest dopasowanie narzędzia do klasy problemu.
I to jest bardzo ważne również architektonicznie.
Bo write flow i async orchestration często są bardziej streamowe.
A read model i projection dla widoku bardzo dobrze układają się na signalach.
[Sources]
- User-provided code snippets from Doc2 repository: D2GuiViewerEditor
- Angular RxJS interop: https://angular.dev/ecosystem/rxjs-interop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Tutaj chcę pokazać jedną praktyczną granicę.
W Angularze nie każda reaktywna rzecz powinna być robiona przez effect.
I ConnectionStatusService jest dobrym przykładem.
Mamy timer, health-check, HTTP i synchronizację z Angularowym UI.
To nie jest czysta zależność sygnałów.
To jest orkiestracja i integracja z IO.
I właśnie dlatego nie ma sensu wciskać tego na siłę do effect.
effect dobrze pasuje do synchronizacji z czymś zewnętrznym.
Ale nie powinien stawać się workflow engine.
To jest ważna granica, bo wiele zespołów bardzo szybko zaczyna używać effect do wszystkiego.
A wtedy problem nie jest już w API.
Problem jest w tym, że zbyt wiele odpowiedzialności trafia w jedno miejsce.
[Sources]
- User-provided code snippets from Doc2 repository: D2GuiViewerEditor
- Angular Effects Guide: https://angular.dev/guide/signals/effect
- Angular toSignal API: https://angular.dev/api/core/rxjs-interop/toSignal
- Angular resource API: https://angular.dev/api/core/resource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małych demo Signals wyglądają bardzo prosto.
Ale w większej aplikacji wychodzą problemy, których nie widać od razu.
Pierwszy to zbyt głębokie łańcuchy computed.
Na początku wyglądają elegancko.
Później coraz trudniej zrozumieć, od czego naprawdę zależy wynik.
Drugi problem to ciężkie obliczenia w computed.
To, że coś jest reaktywne, nie oznacza jeszcze, że jest darmowe.
Trzeci problem jest najbardziej zdradliwy.
Zależności są dynamiczne.
Jeśli jakiś sygnał nie został odczytany w ostatnim przebiegu, może przestać być śledzony.
To właśnie dlatego warunki z short-circuiting potrafią prowadzić do bardzo nieoczywistych bugów.
Czwarty problem to effect używany jak silnik workflow.
Piąty to brak wspólnej umowy zespołu, kiedy używamy Signals, a kiedy RxJS.
Te problemy nie przekreślają Signals.
One tylko pokazują, że produkcyjna reaktywność wymaga dyscypliny.
[Sources]
- Angular Signals Guide: https://angular.dev/guide/signals
- Angular Effects Guide: https://angular.dev/guide/signals/effect
- Signal Graph / Angular DevTools community article: https://medium.com/ngconf/debugging-angular-signals-a-guide-to-the-signal-graph-devtool-b0b69804496d
- Community article on production pitfalls: https://yogeshraghav3043.medium.com/angular-signals-in-production-5-problems-no-one-mentions-and-how-we-fixed-them-2329f9e4173d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Chcę zostawić po tej prezentacji pięć bardzo praktycznych heurystyk.
Pierwsza: DTO to nie model domenowy.
W Doc2 bardzo dobrze widać, jak łatwo to pomylić.
Druga: store albo fasada powinny mówić językiem komend, a nie setterów.
EditorToolbarComponent jest tutaj dobrym przykładem.
Trzecia: reguły biznesowe nie powinny mieszkać wyłącznie w computed.
Jeśli mają znaczenie poza jednym ekranem, trzeba je nazwać i wydzielić.
Czwarta: komponent ma renderować i emitować intencję.
Nie ma być miejscem, które rozstrzyga politykę systemu.
Piąta: nie każde UI potrzebuje pełnego DDD.
Jeśli mamy prosty CRUD, ciężka architektura będzie tylko przesadą.
Ale jeśli mamy edytor dokumentów z wersjonowaniem, zapisami, integracjami i stanem pośrednim, to brak granic zacznie szybko boleć.
[Sources]
- User-provided Doc2 project examples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końcu chcę zostawić bardzo praktyczny wniosek.
Doc2 nie jest projektem, który trzeba przewrócić do góry nogami.
On ma już kilka bardzo dobrych elementów.
ConnectionStatusService jest czystym przykładem dobrego użycia Signals.
NotificationService jest podobnie prosty i zdrowy.
EditorToolbarComponent już mówi językiem intencji użytkownika.
Backend ma uporządkowany model use case’ów.
Czyli fundamenty już istnieją.
Najbardziej naturalny następny krok to nie przepisać wszystko.
Najbardziej naturalny krok to dodać brakującą warstwę pośrodku.
Czyli fasadę i use case’y po stronie frontendu.
Wtedy DocumentEditorComponent przestanie być przeciążony.
UI state zostanie lokalnie tam, gdzie jego miejsce.
A decyzje i orkiestracja dostaną własne, nazwane miejsca.
I to jest dla mnie najlepsze podsumowanie całej prezentacji.
Signals świetnie modelują to, jak aplikacja reaguje.
DDD pomaga zdecydować, co w tej aplikacji naprawdę ma znaczenie.
[Sources]
- User-provided Doc2 project examples
- Angular Signal Forms overview: https://angular.dev/guide/forms/signals/overview
- Angular v21 announcement: https://blog.angular.dev/announcing-angular-v21-57946c34f14b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Angular Signals i DDD</a:t>
            </a:r>
            <a:endParaRPr lang="en-US" sz="2800" dirty="0"/>
          </a:p>
        </p:txBody>
      </p:sp>
      <p:sp>
        <p:nvSpPr>
          <p:cNvPr id="3" name="Text 1"/>
          <p:cNvSpPr/>
          <p:nvPr/>
        </p:nvSpPr>
        <p:spPr>
          <a:xfrm>
            <a:off x="502920" y="667512"/>
            <a:ext cx="7863840" cy="164592"/>
          </a:xfrm>
          <a:prstGeom prst="rect">
            <a:avLst/>
          </a:prstGeom>
          <a:noFill/>
          <a:ln/>
        </p:spPr>
        <p:txBody>
          <a:bodyPr wrap="square" lIns="0" tIns="0" rIns="0" bIns="0" rtlCol="0" anchor="ctr"/>
          <a:lstStyle/>
          <a:p>
            <a:pPr marL="0" indent="0">
              <a:buNone/>
            </a:pPr>
            <a:r>
              <a:rPr lang="en-US" sz="1250" dirty="0">
                <a:solidFill>
                  <a:srgbClr val="94A3B8"/>
                </a:solidFill>
                <a:latin typeface="Aptos" pitchFamily="34" charset="0"/>
                <a:ea typeface="Aptos" pitchFamily="34" charset="-122"/>
                <a:cs typeface="Aptos" pitchFamily="34" charset="-120"/>
              </a:rPr>
              <a:t>Reaktywne modelowanie domeny w nowoczesnej architekturze frontendu</a:t>
            </a:r>
            <a:endParaRPr lang="en-US" sz="1250" dirty="0"/>
          </a:p>
        </p:txBody>
      </p:sp>
      <p:sp>
        <p:nvSpPr>
          <p:cNvPr id="4" name="Shape 2"/>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5" name="Text 3"/>
          <p:cNvSpPr/>
          <p:nvPr/>
        </p:nvSpPr>
        <p:spPr>
          <a:xfrm>
            <a:off x="502920" y="1097280"/>
            <a:ext cx="4754880" cy="274320"/>
          </a:xfrm>
          <a:prstGeom prst="rect">
            <a:avLst/>
          </a:prstGeom>
          <a:noFill/>
          <a:ln/>
        </p:spPr>
        <p:txBody>
          <a:bodyPr wrap="square" lIns="0" tIns="0" rIns="0" bIns="0" rtlCol="0" anchor="ctr"/>
          <a:lstStyle/>
          <a:p>
            <a:pPr marL="0" indent="0">
              <a:buNone/>
            </a:pPr>
            <a:r>
              <a:rPr lang="en-US" sz="2400" b="1" dirty="0">
                <a:solidFill>
                  <a:srgbClr val="3B82F6"/>
                </a:solidFill>
              </a:rPr>
              <a:t>Doc2: jeden komponent, 30+ sygnałów</a:t>
            </a:r>
            <a:endParaRPr lang="en-US" sz="2400" dirty="0"/>
          </a:p>
        </p:txBody>
      </p:sp>
      <p:sp>
        <p:nvSpPr>
          <p:cNvPr id="6" name="Text 4"/>
          <p:cNvSpPr/>
          <p:nvPr/>
        </p:nvSpPr>
        <p:spPr>
          <a:xfrm>
            <a:off x="521208" y="1572768"/>
            <a:ext cx="164592" cy="182880"/>
          </a:xfrm>
          <a:prstGeom prst="rect">
            <a:avLst/>
          </a:prstGeom>
          <a:noFill/>
          <a:ln/>
        </p:spPr>
        <p:txBody>
          <a:bodyPr wrap="square" lIns="0" tIns="0" rIns="0" bIns="0" rtlCol="0" anchor="ctr"/>
          <a:lstStyle/>
          <a:p>
            <a:pPr marL="0" indent="0">
              <a:buNone/>
            </a:pPr>
            <a:r>
              <a:rPr lang="en-US" sz="2100" b="1" dirty="0">
                <a:solidFill>
                  <a:srgbClr val="22D3EE"/>
                </a:solidFill>
              </a:rPr>
              <a:t>•</a:t>
            </a:r>
            <a:endParaRPr lang="en-US" sz="2100" dirty="0"/>
          </a:p>
        </p:txBody>
      </p:sp>
      <p:sp>
        <p:nvSpPr>
          <p:cNvPr id="7" name="Text 5"/>
          <p:cNvSpPr/>
          <p:nvPr/>
        </p:nvSpPr>
        <p:spPr>
          <a:xfrm>
            <a:off x="722376" y="1563624"/>
            <a:ext cx="4005072" cy="219456"/>
          </a:xfrm>
          <a:prstGeom prst="rect">
            <a:avLst/>
          </a:prstGeom>
          <a:noFill/>
          <a:ln/>
        </p:spPr>
        <p:txBody>
          <a:bodyPr wrap="square" lIns="0" tIns="0" rIns="0" bIns="0" rtlCol="0" anchor="ctr"/>
          <a:lstStyle/>
          <a:p>
            <a:pPr marL="0" indent="0">
              <a:buNone/>
            </a:pPr>
            <a:r>
              <a:rPr lang="en-US" sz="2100" dirty="0">
                <a:solidFill>
                  <a:srgbClr val="E5E7EB"/>
                </a:solidFill>
              </a:rPr>
              <a:t>stan dokumentu</a:t>
            </a:r>
            <a:endParaRPr lang="en-US" sz="2100" dirty="0"/>
          </a:p>
        </p:txBody>
      </p:sp>
      <p:sp>
        <p:nvSpPr>
          <p:cNvPr id="8" name="Text 6"/>
          <p:cNvSpPr/>
          <p:nvPr/>
        </p:nvSpPr>
        <p:spPr>
          <a:xfrm>
            <a:off x="521208" y="2011680"/>
            <a:ext cx="164592" cy="182880"/>
          </a:xfrm>
          <a:prstGeom prst="rect">
            <a:avLst/>
          </a:prstGeom>
          <a:noFill/>
          <a:ln/>
        </p:spPr>
        <p:txBody>
          <a:bodyPr wrap="square" lIns="0" tIns="0" rIns="0" bIns="0" rtlCol="0" anchor="ctr"/>
          <a:lstStyle/>
          <a:p>
            <a:pPr marL="0" indent="0">
              <a:buNone/>
            </a:pPr>
            <a:r>
              <a:rPr lang="en-US" sz="2100" b="1" dirty="0">
                <a:solidFill>
                  <a:srgbClr val="22D3EE"/>
                </a:solidFill>
              </a:rPr>
              <a:t>•</a:t>
            </a:r>
            <a:endParaRPr lang="en-US" sz="2100" dirty="0"/>
          </a:p>
        </p:txBody>
      </p:sp>
      <p:sp>
        <p:nvSpPr>
          <p:cNvPr id="9" name="Text 7"/>
          <p:cNvSpPr/>
          <p:nvPr/>
        </p:nvSpPr>
        <p:spPr>
          <a:xfrm>
            <a:off x="722376" y="2002536"/>
            <a:ext cx="4005072" cy="219456"/>
          </a:xfrm>
          <a:prstGeom prst="rect">
            <a:avLst/>
          </a:prstGeom>
          <a:noFill/>
          <a:ln/>
        </p:spPr>
        <p:txBody>
          <a:bodyPr wrap="square" lIns="0" tIns="0" rIns="0" bIns="0" rtlCol="0" anchor="ctr"/>
          <a:lstStyle/>
          <a:p>
            <a:pPr marL="0" indent="0">
              <a:buNone/>
            </a:pPr>
            <a:r>
              <a:rPr lang="en-US" sz="2100" dirty="0">
                <a:solidFill>
                  <a:srgbClr val="E5E7EB"/>
                </a:solidFill>
              </a:rPr>
              <a:t>stan edytora</a:t>
            </a:r>
            <a:endParaRPr lang="en-US" sz="2100" dirty="0"/>
          </a:p>
        </p:txBody>
      </p:sp>
      <p:sp>
        <p:nvSpPr>
          <p:cNvPr id="10" name="Text 8"/>
          <p:cNvSpPr/>
          <p:nvPr/>
        </p:nvSpPr>
        <p:spPr>
          <a:xfrm>
            <a:off x="521208" y="2450592"/>
            <a:ext cx="164592" cy="182880"/>
          </a:xfrm>
          <a:prstGeom prst="rect">
            <a:avLst/>
          </a:prstGeom>
          <a:noFill/>
          <a:ln/>
        </p:spPr>
        <p:txBody>
          <a:bodyPr wrap="square" lIns="0" tIns="0" rIns="0" bIns="0" rtlCol="0" anchor="ctr"/>
          <a:lstStyle/>
          <a:p>
            <a:pPr marL="0" indent="0">
              <a:buNone/>
            </a:pPr>
            <a:r>
              <a:rPr lang="en-US" sz="2100" b="1" dirty="0">
                <a:solidFill>
                  <a:srgbClr val="22D3EE"/>
                </a:solidFill>
              </a:rPr>
              <a:t>•</a:t>
            </a:r>
            <a:endParaRPr lang="en-US" sz="2100" dirty="0"/>
          </a:p>
        </p:txBody>
      </p:sp>
      <p:sp>
        <p:nvSpPr>
          <p:cNvPr id="11" name="Text 9"/>
          <p:cNvSpPr/>
          <p:nvPr/>
        </p:nvSpPr>
        <p:spPr>
          <a:xfrm>
            <a:off x="722376" y="2441448"/>
            <a:ext cx="4005072" cy="219456"/>
          </a:xfrm>
          <a:prstGeom prst="rect">
            <a:avLst/>
          </a:prstGeom>
          <a:noFill/>
          <a:ln/>
        </p:spPr>
        <p:txBody>
          <a:bodyPr wrap="square" lIns="0" tIns="0" rIns="0" bIns="0" rtlCol="0" anchor="ctr"/>
          <a:lstStyle/>
          <a:p>
            <a:pPr marL="0" indent="0">
              <a:buNone/>
            </a:pPr>
            <a:r>
              <a:rPr lang="en-US" sz="2100" dirty="0">
                <a:solidFill>
                  <a:srgbClr val="E5E7EB"/>
                </a:solidFill>
              </a:rPr>
              <a:t>stan UI</a:t>
            </a:r>
            <a:endParaRPr lang="en-US" sz="2100" dirty="0"/>
          </a:p>
        </p:txBody>
      </p:sp>
      <p:sp>
        <p:nvSpPr>
          <p:cNvPr id="12" name="Text 10"/>
          <p:cNvSpPr/>
          <p:nvPr/>
        </p:nvSpPr>
        <p:spPr>
          <a:xfrm>
            <a:off x="521208" y="2889504"/>
            <a:ext cx="164592" cy="182880"/>
          </a:xfrm>
          <a:prstGeom prst="rect">
            <a:avLst/>
          </a:prstGeom>
          <a:noFill/>
          <a:ln/>
        </p:spPr>
        <p:txBody>
          <a:bodyPr wrap="square" lIns="0" tIns="0" rIns="0" bIns="0" rtlCol="0" anchor="ctr"/>
          <a:lstStyle/>
          <a:p>
            <a:pPr marL="0" indent="0">
              <a:buNone/>
            </a:pPr>
            <a:r>
              <a:rPr lang="en-US" sz="2100" b="1" dirty="0">
                <a:solidFill>
                  <a:srgbClr val="22D3EE"/>
                </a:solidFill>
              </a:rPr>
              <a:t>•</a:t>
            </a:r>
            <a:endParaRPr lang="en-US" sz="2100" dirty="0"/>
          </a:p>
        </p:txBody>
      </p:sp>
      <p:sp>
        <p:nvSpPr>
          <p:cNvPr id="13" name="Text 11"/>
          <p:cNvSpPr/>
          <p:nvPr/>
        </p:nvSpPr>
        <p:spPr>
          <a:xfrm>
            <a:off x="722376" y="2880360"/>
            <a:ext cx="4005072" cy="219456"/>
          </a:xfrm>
          <a:prstGeom prst="rect">
            <a:avLst/>
          </a:prstGeom>
          <a:noFill/>
          <a:ln/>
        </p:spPr>
        <p:txBody>
          <a:bodyPr wrap="square" lIns="0" tIns="0" rIns="0" bIns="0" rtlCol="0" anchor="ctr"/>
          <a:lstStyle/>
          <a:p>
            <a:pPr marL="0" indent="0">
              <a:buNone/>
            </a:pPr>
            <a:r>
              <a:rPr lang="en-US" sz="2100" dirty="0">
                <a:solidFill>
                  <a:srgbClr val="E5E7EB"/>
                </a:solidFill>
              </a:rPr>
              <a:t>orkiestracja zapisu</a:t>
            </a:r>
            <a:endParaRPr lang="en-US" sz="2100" dirty="0"/>
          </a:p>
        </p:txBody>
      </p:sp>
      <p:sp>
        <p:nvSpPr>
          <p:cNvPr id="14" name="Text 12"/>
          <p:cNvSpPr/>
          <p:nvPr/>
        </p:nvSpPr>
        <p:spPr>
          <a:xfrm>
            <a:off x="502920" y="3794760"/>
            <a:ext cx="4754880" cy="822960"/>
          </a:xfrm>
          <a:prstGeom prst="rect">
            <a:avLst/>
          </a:prstGeom>
          <a:noFill/>
          <a:ln/>
        </p:spPr>
        <p:txBody>
          <a:bodyPr wrap="square" lIns="0" tIns="0" rIns="0" bIns="0" rtlCol="0" anchor="ctr"/>
          <a:lstStyle/>
          <a:p>
            <a:pPr marL="0" indent="0">
              <a:buNone/>
            </a:pPr>
            <a:r>
              <a:rPr lang="en-US" sz="2200" b="1" dirty="0">
                <a:solidFill>
                  <a:srgbClr val="E5E7EB"/>
                </a:solidFill>
              </a:rPr>
              <a:t>Signals rozwiązują reaktywność.</a:t>
            </a:r>
            <a:endParaRPr lang="en-US" sz="2200" dirty="0"/>
          </a:p>
          <a:p>
            <a:pPr marL="0" indent="0">
              <a:buNone/>
            </a:pPr>
            <a:r>
              <a:rPr lang="en-US" sz="2200" b="1" dirty="0">
                <a:solidFill>
                  <a:srgbClr val="E5E7EB"/>
                </a:solidFill>
              </a:rPr>
              <a:t>DDD porządkuje odpowiedzialność.</a:t>
            </a:r>
            <a:endParaRPr lang="en-US" sz="2200" dirty="0"/>
          </a:p>
        </p:txBody>
      </p:sp>
      <p:sp>
        <p:nvSpPr>
          <p:cNvPr id="15" name="Shape 13"/>
          <p:cNvSpPr/>
          <p:nvPr/>
        </p:nvSpPr>
        <p:spPr>
          <a:xfrm>
            <a:off x="5715000" y="1234440"/>
            <a:ext cx="5897880" cy="4206240"/>
          </a:xfrm>
          <a:prstGeom prst="roundRect">
            <a:avLst>
              <a:gd name="adj" fmla="val 1739"/>
            </a:avLst>
          </a:prstGeom>
          <a:solidFill>
            <a:srgbClr val="0B1220"/>
          </a:solidFill>
          <a:ln w="12700">
            <a:solidFill>
              <a:srgbClr val="334155"/>
            </a:solidFill>
            <a:prstDash val="solid"/>
          </a:ln>
        </p:spPr>
        <p:txBody>
          <a:bodyPr/>
          <a:lstStyle/>
          <a:p>
            <a:endParaRPr lang="pl-PL"/>
          </a:p>
        </p:txBody>
      </p:sp>
      <p:sp>
        <p:nvSpPr>
          <p:cNvPr id="16" name="Text 14"/>
          <p:cNvSpPr/>
          <p:nvPr/>
        </p:nvSpPr>
        <p:spPr>
          <a:xfrm>
            <a:off x="5824728" y="1298448"/>
            <a:ext cx="5678424" cy="164592"/>
          </a:xfrm>
          <a:prstGeom prst="rect">
            <a:avLst/>
          </a:prstGeom>
          <a:noFill/>
          <a:ln/>
        </p:spPr>
        <p:txBody>
          <a:bodyPr wrap="square" lIns="0" tIns="0" rIns="0" bIns="0" rtlCol="0" anchor="ctr"/>
          <a:lstStyle/>
          <a:p>
            <a:pPr marL="0" indent="0">
              <a:buNone/>
            </a:pPr>
            <a:r>
              <a:rPr lang="en-US" sz="1100" b="1" dirty="0">
                <a:solidFill>
                  <a:srgbClr val="94A3B8"/>
                </a:solidFill>
              </a:rPr>
              <a:t>DocumentEditorComponent</a:t>
            </a:r>
            <a:endParaRPr lang="en-US" sz="1100" dirty="0"/>
          </a:p>
        </p:txBody>
      </p:sp>
      <p:sp>
        <p:nvSpPr>
          <p:cNvPr id="17" name="Text 15"/>
          <p:cNvSpPr/>
          <p:nvPr/>
        </p:nvSpPr>
        <p:spPr>
          <a:xfrm>
            <a:off x="5843016" y="1472184"/>
            <a:ext cx="5641848" cy="389534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documentContent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string</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'&lt;p&gt;&lt;/p&gt;'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documentMetadata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DocumentMetadata</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isLoading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showMenu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zoomLevel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errorMessage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string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8" name="Shape 16"/>
          <p:cNvSpPr/>
          <p:nvPr/>
        </p:nvSpPr>
        <p:spPr>
          <a:xfrm>
            <a:off x="502920" y="5806440"/>
            <a:ext cx="11185855" cy="658368"/>
          </a:xfrm>
          <a:prstGeom prst="roundRect">
            <a:avLst>
              <a:gd name="adj" fmla="val 11111"/>
            </a:avLst>
          </a:prstGeom>
          <a:solidFill>
            <a:srgbClr val="111827"/>
          </a:solidFill>
          <a:ln w="12700">
            <a:solidFill>
              <a:srgbClr val="F59E0B"/>
            </a:solidFill>
            <a:prstDash val="solid"/>
          </a:ln>
        </p:spPr>
        <p:txBody>
          <a:bodyPr/>
          <a:lstStyle/>
          <a:p>
            <a:endParaRPr lang="pl-PL"/>
          </a:p>
        </p:txBody>
      </p:sp>
      <p:sp>
        <p:nvSpPr>
          <p:cNvPr id="19" name="Text 17"/>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Kiedy jeden komponent staje się źródłem prawdy dla dokumentu, UI i workflow — problemem nie jest brak Signals. Problemem jest brak granic.</a:t>
            </a:r>
            <a:endParaRPr lang="en-US" sz="1800" dirty="0"/>
          </a:p>
        </p:txBody>
      </p:sp>
      <p:sp>
        <p:nvSpPr>
          <p:cNvPr id="20" name="Text 18"/>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1</a:t>
            </a:r>
            <a:endParaRPr lang="en-US" sz="1000" dirty="0"/>
          </a:p>
        </p:txBody>
      </p:sp>
      <p:sp>
        <p:nvSpPr>
          <p:cNvPr id="21" name="Text 19"/>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Skąd bierze się chaos we frontendzie</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43000"/>
            <a:ext cx="5440680" cy="4389120"/>
          </a:xfrm>
          <a:prstGeom prst="roundRect">
            <a:avLst>
              <a:gd name="adj" fmla="val 1667"/>
            </a:avLst>
          </a:prstGeom>
          <a:solidFill>
            <a:srgbClr val="172033"/>
          </a:solidFill>
          <a:ln w="12700">
            <a:solidFill>
              <a:srgbClr val="3B82F6"/>
            </a:solidFill>
            <a:prstDash val="solid"/>
          </a:ln>
        </p:spPr>
        <p:txBody>
          <a:bodyPr/>
          <a:lstStyle/>
          <a:p>
            <a:endParaRPr lang="pl-PL"/>
          </a:p>
        </p:txBody>
      </p:sp>
      <p:sp>
        <p:nvSpPr>
          <p:cNvPr id="5" name="Text 3"/>
          <p:cNvSpPr/>
          <p:nvPr/>
        </p:nvSpPr>
        <p:spPr>
          <a:xfrm>
            <a:off x="667512" y="1298448"/>
            <a:ext cx="5029200" cy="219456"/>
          </a:xfrm>
          <a:prstGeom prst="rect">
            <a:avLst/>
          </a:prstGeom>
          <a:noFill/>
          <a:ln/>
        </p:spPr>
        <p:txBody>
          <a:bodyPr wrap="square" lIns="0" tIns="0" rIns="0" bIns="0" rtlCol="0" anchor="ctr"/>
          <a:lstStyle/>
          <a:p>
            <a:pPr marL="0" indent="0">
              <a:buNone/>
            </a:pPr>
            <a:r>
              <a:rPr lang="en-US" sz="2000" b="1" dirty="0">
                <a:solidFill>
                  <a:srgbClr val="3B82F6"/>
                </a:solidFill>
              </a:rPr>
              <a:t>Problem 1 — komponent wie za dużo</a:t>
            </a:r>
            <a:endParaRPr lang="en-US" sz="2000" dirty="0"/>
          </a:p>
        </p:txBody>
      </p:sp>
      <p:sp>
        <p:nvSpPr>
          <p:cNvPr id="6" name="Shape 4"/>
          <p:cNvSpPr/>
          <p:nvPr/>
        </p:nvSpPr>
        <p:spPr>
          <a:xfrm>
            <a:off x="667512" y="1673352"/>
            <a:ext cx="5102352" cy="3291840"/>
          </a:xfrm>
          <a:prstGeom prst="roundRect">
            <a:avLst>
              <a:gd name="adj" fmla="val 2222"/>
            </a:avLst>
          </a:prstGeom>
          <a:solidFill>
            <a:srgbClr val="0B1220"/>
          </a:solidFill>
          <a:ln w="12700">
            <a:solidFill>
              <a:srgbClr val="334155"/>
            </a:solidFill>
            <a:prstDash val="solid"/>
          </a:ln>
        </p:spPr>
        <p:txBody>
          <a:bodyPr/>
          <a:lstStyle/>
          <a:p>
            <a:endParaRPr lang="pl-PL"/>
          </a:p>
        </p:txBody>
      </p:sp>
      <p:sp>
        <p:nvSpPr>
          <p:cNvPr id="7" name="Text 5"/>
          <p:cNvSpPr/>
          <p:nvPr/>
        </p:nvSpPr>
        <p:spPr>
          <a:xfrm>
            <a:off x="795528" y="1783080"/>
            <a:ext cx="4846320" cy="3108960"/>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isLoading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showMenu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zoomLevel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documentContent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string</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documentMetadata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DocumentMetadata</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a:t>
            </a:r>
            <a:endParaRPr lang="en-US" sz="1320" dirty="0"/>
          </a:p>
        </p:txBody>
      </p:sp>
      <p:sp>
        <p:nvSpPr>
          <p:cNvPr id="8" name="Shape 6"/>
          <p:cNvSpPr/>
          <p:nvPr/>
        </p:nvSpPr>
        <p:spPr>
          <a:xfrm>
            <a:off x="6245352" y="1143000"/>
            <a:ext cx="5440680" cy="4389120"/>
          </a:xfrm>
          <a:prstGeom prst="roundRect">
            <a:avLst>
              <a:gd name="adj" fmla="val 1667"/>
            </a:avLst>
          </a:prstGeom>
          <a:solidFill>
            <a:srgbClr val="172033"/>
          </a:solidFill>
          <a:ln w="12700">
            <a:solidFill>
              <a:srgbClr val="22D3EE"/>
            </a:solidFill>
            <a:prstDash val="solid"/>
          </a:ln>
        </p:spPr>
        <p:txBody>
          <a:bodyPr/>
          <a:lstStyle/>
          <a:p>
            <a:endParaRPr lang="pl-PL"/>
          </a:p>
        </p:txBody>
      </p:sp>
      <p:sp>
        <p:nvSpPr>
          <p:cNvPr id="9" name="Text 7"/>
          <p:cNvSpPr/>
          <p:nvPr/>
        </p:nvSpPr>
        <p:spPr>
          <a:xfrm>
            <a:off x="6409944" y="1298448"/>
            <a:ext cx="4937760" cy="219456"/>
          </a:xfrm>
          <a:prstGeom prst="rect">
            <a:avLst/>
          </a:prstGeom>
          <a:noFill/>
          <a:ln/>
        </p:spPr>
        <p:txBody>
          <a:bodyPr wrap="square" lIns="0" tIns="0" rIns="0" bIns="0" rtlCol="0" anchor="ctr"/>
          <a:lstStyle/>
          <a:p>
            <a:pPr marL="0" indent="0">
              <a:buNone/>
            </a:pPr>
            <a:r>
              <a:rPr lang="en-US" sz="2000" b="1" dirty="0">
                <a:solidFill>
                  <a:srgbClr val="22D3EE"/>
                </a:solidFill>
              </a:rPr>
              <a:t>Problem 2 — DTO udaje model domenowy</a:t>
            </a:r>
            <a:endParaRPr lang="en-US" sz="2000" dirty="0"/>
          </a:p>
        </p:txBody>
      </p:sp>
      <p:sp>
        <p:nvSpPr>
          <p:cNvPr id="10" name="Shape 8"/>
          <p:cNvSpPr/>
          <p:nvPr/>
        </p:nvSpPr>
        <p:spPr>
          <a:xfrm>
            <a:off x="6409944" y="1783080"/>
            <a:ext cx="5102352" cy="1600200"/>
          </a:xfrm>
          <a:prstGeom prst="roundRect">
            <a:avLst>
              <a:gd name="adj" fmla="val 4571"/>
            </a:avLst>
          </a:prstGeom>
          <a:solidFill>
            <a:srgbClr val="0B1220"/>
          </a:solidFill>
          <a:ln w="12700">
            <a:solidFill>
              <a:srgbClr val="334155"/>
            </a:solidFill>
            <a:prstDash val="solid"/>
          </a:ln>
        </p:spPr>
        <p:txBody>
          <a:bodyPr/>
          <a:lstStyle/>
          <a:p>
            <a:endParaRPr lang="pl-PL"/>
          </a:p>
        </p:txBody>
      </p:sp>
      <p:sp>
        <p:nvSpPr>
          <p:cNvPr id="11" name="Text 9"/>
          <p:cNvSpPr/>
          <p:nvPr/>
        </p:nvSpPr>
        <p:spPr>
          <a:xfrm>
            <a:off x="6537960" y="1892808"/>
            <a:ext cx="4846320" cy="1417320"/>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export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interface</a:t>
            </a:r>
            <a:r>
              <a:rPr lang="en-US" sz="1400" dirty="0">
                <a:solidFill>
                  <a:srgbClr val="FFFFFF"/>
                </a:solidFill>
                <a:latin typeface="Consolas" pitchFamily="34" charset="0"/>
                <a:ea typeface="Consolas" pitchFamily="34" charset="-122"/>
                <a:cs typeface="Consolas" pitchFamily="34" charset="-120"/>
              </a:rPr>
              <a:t> DocumentContent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html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string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metadata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DocumentMetadata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images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DocumentImage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styles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DocumentStyle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12" name="Text 10"/>
          <p:cNvSpPr/>
          <p:nvPr/>
        </p:nvSpPr>
        <p:spPr>
          <a:xfrm>
            <a:off x="6428232" y="3794760"/>
            <a:ext cx="4983480" cy="594360"/>
          </a:xfrm>
          <a:prstGeom prst="rect">
            <a:avLst/>
          </a:prstGeom>
          <a:noFill/>
          <a:ln/>
        </p:spPr>
        <p:txBody>
          <a:bodyPr wrap="square" lIns="0" tIns="0" rIns="0" bIns="0" rtlCol="0" anchor="ctr"/>
          <a:lstStyle/>
          <a:p>
            <a:pPr marL="0" indent="0">
              <a:buNone/>
            </a:pPr>
            <a:r>
              <a:rPr lang="en-US" sz="1800" dirty="0">
                <a:solidFill>
                  <a:srgbClr val="E5E7EB"/>
                </a:solidFill>
              </a:rPr>
              <a:t>Frontend pracuje bezpośrednio na DTO transportowym,</a:t>
            </a:r>
            <a:endParaRPr lang="en-US" sz="1800" dirty="0"/>
          </a:p>
          <a:p>
            <a:pPr marL="0" indent="0">
              <a:buNone/>
            </a:pPr>
            <a:r>
              <a:rPr lang="en-US" sz="1800" dirty="0">
                <a:solidFill>
                  <a:srgbClr val="E5E7EB"/>
                </a:solidFill>
              </a:rPr>
              <a:t>mimo że backend ma już bogatszy model domenowy.</a:t>
            </a:r>
            <a:endParaRPr lang="en-US" sz="1800" dirty="0"/>
          </a:p>
        </p:txBody>
      </p:sp>
      <p:sp>
        <p:nvSpPr>
          <p:cNvPr id="13" name="Shape 11"/>
          <p:cNvSpPr/>
          <p:nvPr/>
        </p:nvSpPr>
        <p:spPr>
          <a:xfrm>
            <a:off x="502920" y="5806440"/>
            <a:ext cx="11185855" cy="658368"/>
          </a:xfrm>
          <a:prstGeom prst="roundRect">
            <a:avLst>
              <a:gd name="adj" fmla="val 11111"/>
            </a:avLst>
          </a:prstGeom>
          <a:solidFill>
            <a:srgbClr val="111827"/>
          </a:solidFill>
          <a:ln w="12700">
            <a:solidFill>
              <a:srgbClr val="EF4444"/>
            </a:solidFill>
            <a:prstDash val="solid"/>
          </a:ln>
        </p:spPr>
        <p:txBody>
          <a:bodyPr/>
          <a:lstStyle/>
          <a:p>
            <a:endParaRPr lang="pl-PL"/>
          </a:p>
        </p:txBody>
      </p:sp>
      <p:sp>
        <p:nvSpPr>
          <p:cNvPr id="14" name="Text 12"/>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Chaos zwykle nie zaczyna się od frameworka. Zaczyna się od zacierania granic między UI, danymi i decyzją biznesową.</a:t>
            </a:r>
            <a:endParaRPr lang="en-US" sz="1800" dirty="0"/>
          </a:p>
        </p:txBody>
      </p:sp>
      <p:sp>
        <p:nvSpPr>
          <p:cNvPr id="15" name="Text 13"/>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2</a:t>
            </a:r>
            <a:endParaRPr lang="en-US" sz="1000" dirty="0"/>
          </a:p>
        </p:txBody>
      </p:sp>
      <p:sp>
        <p:nvSpPr>
          <p:cNvPr id="16" name="Text 14"/>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Signals: czym są, a czym nie są</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88720"/>
            <a:ext cx="3611880" cy="1005840"/>
          </a:xfrm>
          <a:prstGeom prst="roundRect">
            <a:avLst>
              <a:gd name="adj" fmla="val 7273"/>
            </a:avLst>
          </a:prstGeom>
          <a:solidFill>
            <a:srgbClr val="172033"/>
          </a:solidFill>
          <a:ln w="12700">
            <a:solidFill>
              <a:srgbClr val="3B82F6"/>
            </a:solidFill>
            <a:prstDash val="solid"/>
          </a:ln>
        </p:spPr>
        <p:txBody>
          <a:bodyPr/>
          <a:lstStyle/>
          <a:p>
            <a:endParaRPr lang="pl-PL"/>
          </a:p>
        </p:txBody>
      </p:sp>
      <p:sp>
        <p:nvSpPr>
          <p:cNvPr id="5" name="Shape 3"/>
          <p:cNvSpPr/>
          <p:nvPr/>
        </p:nvSpPr>
        <p:spPr>
          <a:xfrm>
            <a:off x="4297680" y="1188720"/>
            <a:ext cx="3611880" cy="1005840"/>
          </a:xfrm>
          <a:prstGeom prst="roundRect">
            <a:avLst>
              <a:gd name="adj" fmla="val 7273"/>
            </a:avLst>
          </a:prstGeom>
          <a:solidFill>
            <a:srgbClr val="172033"/>
          </a:solidFill>
          <a:ln w="12700">
            <a:solidFill>
              <a:srgbClr val="22D3EE"/>
            </a:solidFill>
            <a:prstDash val="solid"/>
          </a:ln>
        </p:spPr>
        <p:txBody>
          <a:bodyPr/>
          <a:lstStyle/>
          <a:p>
            <a:endParaRPr lang="pl-PL"/>
          </a:p>
        </p:txBody>
      </p:sp>
      <p:sp>
        <p:nvSpPr>
          <p:cNvPr id="6" name="Shape 4"/>
          <p:cNvSpPr/>
          <p:nvPr/>
        </p:nvSpPr>
        <p:spPr>
          <a:xfrm>
            <a:off x="8092440" y="1188720"/>
            <a:ext cx="3611880" cy="1005840"/>
          </a:xfrm>
          <a:prstGeom prst="roundRect">
            <a:avLst>
              <a:gd name="adj" fmla="val 7273"/>
            </a:avLst>
          </a:prstGeom>
          <a:solidFill>
            <a:srgbClr val="172033"/>
          </a:solidFill>
          <a:ln w="12700">
            <a:solidFill>
              <a:srgbClr val="F59E0B"/>
            </a:solidFill>
            <a:prstDash val="solid"/>
          </a:ln>
        </p:spPr>
        <p:txBody>
          <a:bodyPr/>
          <a:lstStyle/>
          <a:p>
            <a:endParaRPr lang="pl-PL"/>
          </a:p>
        </p:txBody>
      </p:sp>
      <p:sp>
        <p:nvSpPr>
          <p:cNvPr id="7" name="Text 5"/>
          <p:cNvSpPr/>
          <p:nvPr/>
        </p:nvSpPr>
        <p:spPr>
          <a:xfrm>
            <a:off x="667512" y="1353312"/>
            <a:ext cx="3337560" cy="182880"/>
          </a:xfrm>
          <a:prstGeom prst="rect">
            <a:avLst/>
          </a:prstGeom>
          <a:noFill/>
          <a:ln/>
        </p:spPr>
        <p:txBody>
          <a:bodyPr wrap="square" lIns="0" tIns="0" rIns="0" bIns="0" rtlCol="0" anchor="ctr"/>
          <a:lstStyle/>
          <a:p>
            <a:pPr marL="0" indent="0">
              <a:buNone/>
            </a:pPr>
            <a:r>
              <a:rPr lang="en-US" sz="2200" b="1" dirty="0">
                <a:solidFill>
                  <a:srgbClr val="3B82F6"/>
                </a:solidFill>
              </a:rPr>
              <a:t>signal()</a:t>
            </a:r>
            <a:endParaRPr lang="en-US" sz="2200" dirty="0"/>
          </a:p>
        </p:txBody>
      </p:sp>
      <p:sp>
        <p:nvSpPr>
          <p:cNvPr id="8" name="Text 6"/>
          <p:cNvSpPr/>
          <p:nvPr/>
        </p:nvSpPr>
        <p:spPr>
          <a:xfrm>
            <a:off x="667512" y="1691640"/>
            <a:ext cx="3337560" cy="164592"/>
          </a:xfrm>
          <a:prstGeom prst="rect">
            <a:avLst/>
          </a:prstGeom>
          <a:noFill/>
          <a:ln/>
        </p:spPr>
        <p:txBody>
          <a:bodyPr wrap="square" lIns="0" tIns="0" rIns="0" bIns="0" rtlCol="0" anchor="ctr"/>
          <a:lstStyle/>
          <a:p>
            <a:pPr marL="0" indent="0">
              <a:buNone/>
            </a:pPr>
            <a:r>
              <a:rPr lang="en-US" sz="1600" dirty="0">
                <a:solidFill>
                  <a:srgbClr val="E5E7EB"/>
                </a:solidFill>
              </a:rPr>
              <a:t>source of truth</a:t>
            </a:r>
            <a:endParaRPr lang="en-US" sz="1600" dirty="0"/>
          </a:p>
        </p:txBody>
      </p:sp>
      <p:sp>
        <p:nvSpPr>
          <p:cNvPr id="9" name="Text 7"/>
          <p:cNvSpPr/>
          <p:nvPr/>
        </p:nvSpPr>
        <p:spPr>
          <a:xfrm>
            <a:off x="4462272" y="1353312"/>
            <a:ext cx="3337560" cy="182880"/>
          </a:xfrm>
          <a:prstGeom prst="rect">
            <a:avLst/>
          </a:prstGeom>
          <a:noFill/>
          <a:ln/>
        </p:spPr>
        <p:txBody>
          <a:bodyPr wrap="square" lIns="0" tIns="0" rIns="0" bIns="0" rtlCol="0" anchor="ctr"/>
          <a:lstStyle/>
          <a:p>
            <a:pPr marL="0" indent="0">
              <a:buNone/>
            </a:pPr>
            <a:r>
              <a:rPr lang="en-US" sz="2200" b="1" dirty="0">
                <a:solidFill>
                  <a:srgbClr val="22D3EE"/>
                </a:solidFill>
              </a:rPr>
              <a:t>computed()</a:t>
            </a:r>
            <a:endParaRPr lang="en-US" sz="2200" dirty="0"/>
          </a:p>
        </p:txBody>
      </p:sp>
      <p:sp>
        <p:nvSpPr>
          <p:cNvPr id="10" name="Text 8"/>
          <p:cNvSpPr/>
          <p:nvPr/>
        </p:nvSpPr>
        <p:spPr>
          <a:xfrm>
            <a:off x="4462272" y="1691640"/>
            <a:ext cx="3337560" cy="164592"/>
          </a:xfrm>
          <a:prstGeom prst="rect">
            <a:avLst/>
          </a:prstGeom>
          <a:noFill/>
          <a:ln/>
        </p:spPr>
        <p:txBody>
          <a:bodyPr wrap="square" lIns="0" tIns="0" rIns="0" bIns="0" rtlCol="0" anchor="ctr"/>
          <a:lstStyle/>
          <a:p>
            <a:pPr marL="0" indent="0">
              <a:buNone/>
            </a:pPr>
            <a:r>
              <a:rPr lang="en-US" sz="1600" dirty="0">
                <a:solidFill>
                  <a:srgbClr val="E5E7EB"/>
                </a:solidFill>
              </a:rPr>
              <a:t>derived state / projection</a:t>
            </a:r>
            <a:endParaRPr lang="en-US" sz="1600" dirty="0"/>
          </a:p>
        </p:txBody>
      </p:sp>
      <p:sp>
        <p:nvSpPr>
          <p:cNvPr id="11" name="Text 9"/>
          <p:cNvSpPr/>
          <p:nvPr/>
        </p:nvSpPr>
        <p:spPr>
          <a:xfrm>
            <a:off x="8257032" y="1353312"/>
            <a:ext cx="3337560" cy="182880"/>
          </a:xfrm>
          <a:prstGeom prst="rect">
            <a:avLst/>
          </a:prstGeom>
          <a:noFill/>
          <a:ln/>
        </p:spPr>
        <p:txBody>
          <a:bodyPr wrap="square" lIns="0" tIns="0" rIns="0" bIns="0" rtlCol="0" anchor="ctr"/>
          <a:lstStyle/>
          <a:p>
            <a:pPr marL="0" indent="0">
              <a:buNone/>
            </a:pPr>
            <a:r>
              <a:rPr lang="en-US" sz="2200" b="1" dirty="0">
                <a:solidFill>
                  <a:srgbClr val="F59E0B"/>
                </a:solidFill>
              </a:rPr>
              <a:t>effect()</a:t>
            </a:r>
            <a:endParaRPr lang="en-US" sz="2200" dirty="0"/>
          </a:p>
        </p:txBody>
      </p:sp>
      <p:sp>
        <p:nvSpPr>
          <p:cNvPr id="12" name="Text 10"/>
          <p:cNvSpPr/>
          <p:nvPr/>
        </p:nvSpPr>
        <p:spPr>
          <a:xfrm>
            <a:off x="8257032" y="1691640"/>
            <a:ext cx="3337560" cy="164592"/>
          </a:xfrm>
          <a:prstGeom prst="rect">
            <a:avLst/>
          </a:prstGeom>
          <a:noFill/>
          <a:ln/>
        </p:spPr>
        <p:txBody>
          <a:bodyPr wrap="square" lIns="0" tIns="0" rIns="0" bIns="0" rtlCol="0" anchor="ctr"/>
          <a:lstStyle/>
          <a:p>
            <a:pPr marL="0" indent="0">
              <a:buNone/>
            </a:pPr>
            <a:r>
              <a:rPr lang="en-US" sz="1600" dirty="0">
                <a:solidFill>
                  <a:srgbClr val="E5E7EB"/>
                </a:solidFill>
              </a:rPr>
              <a:t>sync z imperatywnym światem</a:t>
            </a:r>
            <a:endParaRPr lang="en-US" sz="1600" dirty="0"/>
          </a:p>
        </p:txBody>
      </p:sp>
      <p:sp>
        <p:nvSpPr>
          <p:cNvPr id="13" name="Text 11"/>
          <p:cNvSpPr/>
          <p:nvPr/>
        </p:nvSpPr>
        <p:spPr>
          <a:xfrm>
            <a:off x="502920" y="2468880"/>
            <a:ext cx="4937760" cy="731520"/>
          </a:xfrm>
          <a:prstGeom prst="rect">
            <a:avLst/>
          </a:prstGeom>
          <a:noFill/>
          <a:ln/>
        </p:spPr>
        <p:txBody>
          <a:bodyPr wrap="square" lIns="0" tIns="0" rIns="0" bIns="0" rtlCol="0" anchor="ctr"/>
          <a:lstStyle/>
          <a:p>
            <a:pPr marL="0" indent="0">
              <a:buNone/>
            </a:pPr>
            <a:r>
              <a:rPr lang="en-US" sz="2200" b="1" dirty="0">
                <a:solidFill>
                  <a:srgbClr val="E5E7EB"/>
                </a:solidFill>
              </a:rPr>
              <a:t>Signals = synchroniczny, lokalny odczyt stanu</a:t>
            </a:r>
            <a:endParaRPr lang="en-US" sz="2200" dirty="0"/>
          </a:p>
          <a:p>
            <a:pPr marL="0" indent="0">
              <a:buNone/>
            </a:pPr>
            <a:r>
              <a:rPr lang="en-US" sz="2200" b="1" dirty="0">
                <a:solidFill>
                  <a:srgbClr val="E5E7EB"/>
                </a:solidFill>
              </a:rPr>
              <a:t>Signals to nie architektura aplikacji</a:t>
            </a:r>
            <a:endParaRPr lang="en-US" sz="2200" dirty="0"/>
          </a:p>
        </p:txBody>
      </p:sp>
      <p:sp>
        <p:nvSpPr>
          <p:cNvPr id="14" name="Shape 12"/>
          <p:cNvSpPr/>
          <p:nvPr/>
        </p:nvSpPr>
        <p:spPr>
          <a:xfrm>
            <a:off x="5897880" y="2331720"/>
            <a:ext cx="5669280" cy="2240280"/>
          </a:xfrm>
          <a:prstGeom prst="roundRect">
            <a:avLst>
              <a:gd name="adj" fmla="val 3265"/>
            </a:avLst>
          </a:prstGeom>
          <a:solidFill>
            <a:srgbClr val="0B1220"/>
          </a:solidFill>
          <a:ln w="12700">
            <a:solidFill>
              <a:srgbClr val="334155"/>
            </a:solidFill>
            <a:prstDash val="solid"/>
          </a:ln>
        </p:spPr>
        <p:txBody>
          <a:bodyPr/>
          <a:lstStyle/>
          <a:p>
            <a:endParaRPr lang="pl-PL"/>
          </a:p>
        </p:txBody>
      </p:sp>
      <p:sp>
        <p:nvSpPr>
          <p:cNvPr id="15" name="Text 13"/>
          <p:cNvSpPr/>
          <p:nvPr/>
        </p:nvSpPr>
        <p:spPr>
          <a:xfrm>
            <a:off x="6007608" y="2395728"/>
            <a:ext cx="5449824" cy="164592"/>
          </a:xfrm>
          <a:prstGeom prst="rect">
            <a:avLst/>
          </a:prstGeom>
          <a:noFill/>
          <a:ln/>
        </p:spPr>
        <p:txBody>
          <a:bodyPr wrap="square" lIns="0" tIns="0" rIns="0" bIns="0" rtlCol="0" anchor="ctr"/>
          <a:lstStyle/>
          <a:p>
            <a:pPr marL="0" indent="0">
              <a:buNone/>
            </a:pPr>
            <a:r>
              <a:rPr lang="en-US" sz="1100" b="1" dirty="0">
                <a:solidFill>
                  <a:srgbClr val="94A3B8"/>
                </a:solidFill>
              </a:rPr>
              <a:t>ConnectionStatusService</a:t>
            </a:r>
            <a:endParaRPr lang="en-US" sz="1100" dirty="0"/>
          </a:p>
        </p:txBody>
      </p:sp>
      <p:sp>
        <p:nvSpPr>
          <p:cNvPr id="16" name="Text 14"/>
          <p:cNvSpPr/>
          <p:nvPr/>
        </p:nvSpPr>
        <p:spPr>
          <a:xfrm>
            <a:off x="6025896" y="2569464"/>
            <a:ext cx="5413248" cy="19293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private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_browserOffline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navigator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onLine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66D9EF"/>
                </a:solidFill>
                <a:latin typeface="Consolas" pitchFamily="34" charset="0"/>
                <a:ea typeface="Consolas" pitchFamily="34" charset="-122"/>
                <a:cs typeface="Consolas" pitchFamily="34" charset="-120"/>
              </a:rPr>
              <a:t>private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_apiUnreachable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66D9EF"/>
                </a:solidFill>
                <a:latin typeface="Consolas" pitchFamily="34" charset="0"/>
                <a:ea typeface="Consolas" pitchFamily="34" charset="-122"/>
                <a:cs typeface="Consolas" pitchFamily="34" charset="-120"/>
              </a:rPr>
              <a:t>private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_dismissed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isOffline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computed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_browserOffline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_apiUnreachable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&amp;&amp;</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_dismissed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7" name="Shape 15"/>
          <p:cNvSpPr/>
          <p:nvPr/>
        </p:nvSpPr>
        <p:spPr>
          <a:xfrm>
            <a:off x="502920" y="5806440"/>
            <a:ext cx="11185855" cy="658368"/>
          </a:xfrm>
          <a:prstGeom prst="roundRect">
            <a:avLst>
              <a:gd name="adj" fmla="val 11111"/>
            </a:avLst>
          </a:prstGeom>
          <a:solidFill>
            <a:srgbClr val="111827"/>
          </a:solidFill>
          <a:ln w="12700">
            <a:solidFill>
              <a:srgbClr val="22D3EE"/>
            </a:solidFill>
            <a:prstDash val="solid"/>
          </a:ln>
        </p:spPr>
        <p:txBody>
          <a:bodyPr/>
          <a:lstStyle/>
          <a:p>
            <a:endParaRPr lang="pl-PL"/>
          </a:p>
        </p:txBody>
      </p:sp>
      <p:sp>
        <p:nvSpPr>
          <p:cNvPr id="18" name="Text 16"/>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Najczystsze użycie Signals w Doc2 pojawia się tam, gdzie mają jedną odpowiedzialność i czytelne API.</a:t>
            </a:r>
            <a:endParaRPr lang="en-US" sz="1800" dirty="0"/>
          </a:p>
        </p:txBody>
      </p:sp>
      <p:sp>
        <p:nvSpPr>
          <p:cNvPr id="19" name="Text 17"/>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3</a:t>
            </a:r>
            <a:endParaRPr lang="en-US" sz="1000" dirty="0"/>
          </a:p>
        </p:txBody>
      </p:sp>
      <p:sp>
        <p:nvSpPr>
          <p:cNvPr id="20" name="Text 18"/>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UI state to nie domain state</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88720"/>
            <a:ext cx="5486400" cy="1554480"/>
          </a:xfrm>
          <a:prstGeom prst="roundRect">
            <a:avLst>
              <a:gd name="adj" fmla="val 4706"/>
            </a:avLst>
          </a:prstGeom>
          <a:solidFill>
            <a:srgbClr val="172033"/>
          </a:solidFill>
          <a:ln w="12700">
            <a:solidFill>
              <a:srgbClr val="3B82F6"/>
            </a:solidFill>
            <a:prstDash val="solid"/>
          </a:ln>
        </p:spPr>
        <p:txBody>
          <a:bodyPr/>
          <a:lstStyle/>
          <a:p>
            <a:endParaRPr lang="pl-PL"/>
          </a:p>
        </p:txBody>
      </p:sp>
      <p:sp>
        <p:nvSpPr>
          <p:cNvPr id="5" name="Shape 3"/>
          <p:cNvSpPr/>
          <p:nvPr/>
        </p:nvSpPr>
        <p:spPr>
          <a:xfrm>
            <a:off x="6199632" y="1188720"/>
            <a:ext cx="5486400" cy="1554480"/>
          </a:xfrm>
          <a:prstGeom prst="roundRect">
            <a:avLst>
              <a:gd name="adj" fmla="val 4706"/>
            </a:avLst>
          </a:prstGeom>
          <a:solidFill>
            <a:srgbClr val="172033"/>
          </a:solidFill>
          <a:ln w="12700">
            <a:solidFill>
              <a:srgbClr val="22D3EE"/>
            </a:solidFill>
            <a:prstDash val="solid"/>
          </a:ln>
        </p:spPr>
        <p:txBody>
          <a:bodyPr/>
          <a:lstStyle/>
          <a:p>
            <a:endParaRPr lang="pl-PL"/>
          </a:p>
        </p:txBody>
      </p:sp>
      <p:sp>
        <p:nvSpPr>
          <p:cNvPr id="6" name="Text 4"/>
          <p:cNvSpPr/>
          <p:nvPr/>
        </p:nvSpPr>
        <p:spPr>
          <a:xfrm>
            <a:off x="667512" y="1353312"/>
            <a:ext cx="1828800" cy="182880"/>
          </a:xfrm>
          <a:prstGeom prst="rect">
            <a:avLst/>
          </a:prstGeom>
          <a:noFill/>
          <a:ln/>
        </p:spPr>
        <p:txBody>
          <a:bodyPr wrap="square" lIns="0" tIns="0" rIns="0" bIns="0" rtlCol="0" anchor="ctr"/>
          <a:lstStyle/>
          <a:p>
            <a:pPr marL="0" indent="0">
              <a:buNone/>
            </a:pPr>
            <a:r>
              <a:rPr lang="en-US" sz="2200" b="1" dirty="0">
                <a:solidFill>
                  <a:srgbClr val="3B82F6"/>
                </a:solidFill>
              </a:rPr>
              <a:t>UI state</a:t>
            </a:r>
            <a:endParaRPr lang="en-US" sz="2200" dirty="0"/>
          </a:p>
        </p:txBody>
      </p:sp>
      <p:sp>
        <p:nvSpPr>
          <p:cNvPr id="7" name="Text 5"/>
          <p:cNvSpPr/>
          <p:nvPr/>
        </p:nvSpPr>
        <p:spPr>
          <a:xfrm>
            <a:off x="685800" y="1700784"/>
            <a:ext cx="2560320" cy="914400"/>
          </a:xfrm>
          <a:prstGeom prst="rect">
            <a:avLst/>
          </a:prstGeom>
          <a:noFill/>
          <a:ln/>
        </p:spPr>
        <p:txBody>
          <a:bodyPr wrap="square" lIns="0" tIns="0" rIns="0" bIns="0" rtlCol="0" anchor="ctr"/>
          <a:lstStyle/>
          <a:p>
            <a:pPr marL="0" indent="0">
              <a:buNone/>
            </a:pPr>
            <a:r>
              <a:rPr lang="en-US" sz="2000" dirty="0">
                <a:solidFill>
                  <a:srgbClr val="E5E7EB"/>
                </a:solidFill>
              </a:rPr>
              <a:t>showMenu</a:t>
            </a:r>
            <a:endParaRPr lang="en-US" sz="2000" dirty="0"/>
          </a:p>
          <a:p>
            <a:pPr marL="0" indent="0">
              <a:buNone/>
            </a:pPr>
            <a:r>
              <a:rPr lang="en-US" sz="2000" dirty="0">
                <a:solidFill>
                  <a:srgbClr val="E5E7EB"/>
                </a:solidFill>
              </a:rPr>
              <a:t>zoomLevel</a:t>
            </a:r>
            <a:endParaRPr lang="en-US" sz="2000" dirty="0"/>
          </a:p>
          <a:p>
            <a:pPr marL="0" indent="0">
              <a:buNone/>
            </a:pPr>
            <a:r>
              <a:rPr lang="en-US" sz="2000" dirty="0">
                <a:solidFill>
                  <a:srgbClr val="E5E7EB"/>
                </a:solidFill>
              </a:rPr>
              <a:t>showBarcodeDialog</a:t>
            </a:r>
            <a:endParaRPr lang="en-US" sz="2000" dirty="0"/>
          </a:p>
          <a:p>
            <a:pPr marL="0" indent="0">
              <a:buNone/>
            </a:pPr>
            <a:r>
              <a:rPr lang="en-US" sz="2000" dirty="0">
                <a:solidFill>
                  <a:srgbClr val="E5E7EB"/>
                </a:solidFill>
              </a:rPr>
              <a:t>isLoading</a:t>
            </a:r>
            <a:endParaRPr lang="en-US" sz="2000" dirty="0"/>
          </a:p>
        </p:txBody>
      </p:sp>
      <p:sp>
        <p:nvSpPr>
          <p:cNvPr id="8" name="Text 6"/>
          <p:cNvSpPr/>
          <p:nvPr/>
        </p:nvSpPr>
        <p:spPr>
          <a:xfrm>
            <a:off x="6364224" y="1353312"/>
            <a:ext cx="2011680" cy="182880"/>
          </a:xfrm>
          <a:prstGeom prst="rect">
            <a:avLst/>
          </a:prstGeom>
          <a:noFill/>
          <a:ln/>
        </p:spPr>
        <p:txBody>
          <a:bodyPr wrap="square" lIns="0" tIns="0" rIns="0" bIns="0" rtlCol="0" anchor="ctr"/>
          <a:lstStyle/>
          <a:p>
            <a:pPr marL="0" indent="0">
              <a:buNone/>
            </a:pPr>
            <a:r>
              <a:rPr lang="en-US" sz="2200" b="1" dirty="0">
                <a:solidFill>
                  <a:srgbClr val="22D3EE"/>
                </a:solidFill>
              </a:rPr>
              <a:t>Domain state</a:t>
            </a:r>
            <a:endParaRPr lang="en-US" sz="2200" dirty="0"/>
          </a:p>
        </p:txBody>
      </p:sp>
      <p:sp>
        <p:nvSpPr>
          <p:cNvPr id="9" name="Text 7"/>
          <p:cNvSpPr/>
          <p:nvPr/>
        </p:nvSpPr>
        <p:spPr>
          <a:xfrm>
            <a:off x="6382512" y="1700784"/>
            <a:ext cx="2926080" cy="914400"/>
          </a:xfrm>
          <a:prstGeom prst="rect">
            <a:avLst/>
          </a:prstGeom>
          <a:noFill/>
          <a:ln/>
        </p:spPr>
        <p:txBody>
          <a:bodyPr wrap="square" lIns="0" tIns="0" rIns="0" bIns="0" rtlCol="0" anchor="ctr"/>
          <a:lstStyle/>
          <a:p>
            <a:pPr marL="0" indent="0">
              <a:buNone/>
            </a:pPr>
            <a:r>
              <a:rPr lang="en-US" sz="2000" dirty="0">
                <a:solidFill>
                  <a:srgbClr val="E5E7EB"/>
                </a:solidFill>
              </a:rPr>
              <a:t>canSaveDocument</a:t>
            </a:r>
            <a:endParaRPr lang="en-US" sz="2000" dirty="0"/>
          </a:p>
          <a:p>
            <a:pPr marL="0" indent="0">
              <a:buNone/>
            </a:pPr>
            <a:r>
              <a:rPr lang="en-US" sz="2000" dirty="0">
                <a:solidFill>
                  <a:srgbClr val="E5E7EB"/>
                </a:solidFill>
              </a:rPr>
              <a:t>hasActiveVersion</a:t>
            </a:r>
            <a:endParaRPr lang="en-US" sz="2000" dirty="0"/>
          </a:p>
          <a:p>
            <a:pPr marL="0" indent="0">
              <a:buNone/>
            </a:pPr>
            <a:r>
              <a:rPr lang="en-US" sz="2000" dirty="0">
                <a:solidFill>
                  <a:srgbClr val="E5E7EB"/>
                </a:solidFill>
              </a:rPr>
              <a:t>canAddVersion</a:t>
            </a:r>
            <a:endParaRPr lang="en-US" sz="2000" dirty="0"/>
          </a:p>
          <a:p>
            <a:pPr marL="0" indent="0">
              <a:buNone/>
            </a:pPr>
            <a:r>
              <a:rPr lang="en-US" sz="2000" dirty="0">
                <a:solidFill>
                  <a:srgbClr val="E5E7EB"/>
                </a:solidFill>
              </a:rPr>
              <a:t>canRestoreVersion</a:t>
            </a:r>
            <a:endParaRPr lang="en-US" sz="2000" dirty="0"/>
          </a:p>
        </p:txBody>
      </p:sp>
      <p:sp>
        <p:nvSpPr>
          <p:cNvPr id="10" name="Shape 8"/>
          <p:cNvSpPr/>
          <p:nvPr/>
        </p:nvSpPr>
        <p:spPr>
          <a:xfrm>
            <a:off x="502920" y="3063240"/>
            <a:ext cx="3611880" cy="1783080"/>
          </a:xfrm>
          <a:prstGeom prst="roundRect">
            <a:avLst>
              <a:gd name="adj" fmla="val 5161"/>
            </a:avLst>
          </a:prstGeom>
          <a:solidFill>
            <a:srgbClr val="0B1220"/>
          </a:solidFill>
          <a:ln w="12700">
            <a:solidFill>
              <a:srgbClr val="3B82F6"/>
            </a:solidFill>
            <a:prstDash val="solid"/>
          </a:ln>
        </p:spPr>
        <p:txBody>
          <a:bodyPr/>
          <a:lstStyle/>
          <a:p>
            <a:endParaRPr lang="pl-PL"/>
          </a:p>
        </p:txBody>
      </p:sp>
      <p:sp>
        <p:nvSpPr>
          <p:cNvPr id="11" name="Text 9"/>
          <p:cNvSpPr/>
          <p:nvPr/>
        </p:nvSpPr>
        <p:spPr>
          <a:xfrm>
            <a:off x="612648" y="3127248"/>
            <a:ext cx="3392424" cy="164592"/>
          </a:xfrm>
          <a:prstGeom prst="rect">
            <a:avLst/>
          </a:prstGeom>
          <a:noFill/>
          <a:ln/>
        </p:spPr>
        <p:txBody>
          <a:bodyPr wrap="square" lIns="0" tIns="0" rIns="0" bIns="0" rtlCol="0" anchor="ctr"/>
          <a:lstStyle/>
          <a:p>
            <a:pPr marL="0" indent="0">
              <a:buNone/>
            </a:pPr>
            <a:r>
              <a:rPr lang="en-US" sz="1100" b="1" dirty="0">
                <a:solidFill>
                  <a:srgbClr val="94A3B8"/>
                </a:solidFill>
              </a:rPr>
              <a:t>UI state</a:t>
            </a:r>
            <a:endParaRPr lang="en-US" sz="1100" dirty="0"/>
          </a:p>
        </p:txBody>
      </p:sp>
      <p:sp>
        <p:nvSpPr>
          <p:cNvPr id="12" name="Text 10"/>
          <p:cNvSpPr/>
          <p:nvPr/>
        </p:nvSpPr>
        <p:spPr>
          <a:xfrm>
            <a:off x="635508" y="3514847"/>
            <a:ext cx="3355848" cy="110642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showMenu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showBarcodeDialog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zoomLevel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isLoading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endParaRPr lang="en-US" sz="1280" dirty="0"/>
          </a:p>
        </p:txBody>
      </p:sp>
      <p:sp>
        <p:nvSpPr>
          <p:cNvPr id="13" name="Shape 11"/>
          <p:cNvSpPr/>
          <p:nvPr/>
        </p:nvSpPr>
        <p:spPr>
          <a:xfrm>
            <a:off x="4297680" y="3063240"/>
            <a:ext cx="2697480" cy="1417320"/>
          </a:xfrm>
          <a:prstGeom prst="roundRect">
            <a:avLst>
              <a:gd name="adj" fmla="val 5161"/>
            </a:avLst>
          </a:prstGeom>
          <a:solidFill>
            <a:srgbClr val="0B1220"/>
          </a:solidFill>
          <a:ln w="12700">
            <a:solidFill>
              <a:srgbClr val="F59E0B"/>
            </a:solidFill>
            <a:prstDash val="solid"/>
          </a:ln>
        </p:spPr>
        <p:txBody>
          <a:bodyPr/>
          <a:lstStyle/>
          <a:p>
            <a:endParaRPr lang="pl-PL"/>
          </a:p>
        </p:txBody>
      </p:sp>
      <p:sp>
        <p:nvSpPr>
          <p:cNvPr id="14" name="Text 12"/>
          <p:cNvSpPr/>
          <p:nvPr/>
        </p:nvSpPr>
        <p:spPr>
          <a:xfrm>
            <a:off x="4407408" y="3127248"/>
            <a:ext cx="2478024" cy="164592"/>
          </a:xfrm>
          <a:prstGeom prst="rect">
            <a:avLst/>
          </a:prstGeom>
          <a:noFill/>
          <a:ln/>
        </p:spPr>
        <p:txBody>
          <a:bodyPr wrap="square" lIns="0" tIns="0" rIns="0" bIns="0" rtlCol="0" anchor="ctr"/>
          <a:lstStyle/>
          <a:p>
            <a:pPr marL="0" indent="0">
              <a:buNone/>
            </a:pPr>
            <a:r>
              <a:rPr lang="en-US" sz="1100" b="1" dirty="0">
                <a:solidFill>
                  <a:srgbClr val="94A3B8"/>
                </a:solidFill>
              </a:rPr>
              <a:t>Pogranicze: EditorState</a:t>
            </a:r>
            <a:endParaRPr lang="en-US" sz="1100" dirty="0"/>
          </a:p>
        </p:txBody>
      </p:sp>
      <p:sp>
        <p:nvSpPr>
          <p:cNvPr id="15" name="Text 13"/>
          <p:cNvSpPr/>
          <p:nvPr/>
        </p:nvSpPr>
        <p:spPr>
          <a:xfrm>
            <a:off x="4425696" y="3300984"/>
            <a:ext cx="2441448" cy="110642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EditorState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a:t>
            </a:r>
            <a:endParaRPr lang="en-US" sz="1260" dirty="0"/>
          </a:p>
        </p:txBody>
      </p:sp>
      <p:sp>
        <p:nvSpPr>
          <p:cNvPr id="16" name="Shape 14"/>
          <p:cNvSpPr/>
          <p:nvPr/>
        </p:nvSpPr>
        <p:spPr>
          <a:xfrm>
            <a:off x="7223760" y="3063240"/>
            <a:ext cx="4462272" cy="1783080"/>
          </a:xfrm>
          <a:prstGeom prst="roundRect">
            <a:avLst>
              <a:gd name="adj" fmla="val 4103"/>
            </a:avLst>
          </a:prstGeom>
          <a:solidFill>
            <a:srgbClr val="0B1220"/>
          </a:solidFill>
          <a:ln w="12700">
            <a:solidFill>
              <a:srgbClr val="22D3EE"/>
            </a:solidFill>
            <a:prstDash val="solid"/>
          </a:ln>
        </p:spPr>
        <p:txBody>
          <a:bodyPr/>
          <a:lstStyle/>
          <a:p>
            <a:endParaRPr lang="pl-PL"/>
          </a:p>
        </p:txBody>
      </p:sp>
      <p:sp>
        <p:nvSpPr>
          <p:cNvPr id="17" name="Text 15"/>
          <p:cNvSpPr/>
          <p:nvPr/>
        </p:nvSpPr>
        <p:spPr>
          <a:xfrm>
            <a:off x="7333488" y="3127248"/>
            <a:ext cx="4242816" cy="164592"/>
          </a:xfrm>
          <a:prstGeom prst="rect">
            <a:avLst/>
          </a:prstGeom>
          <a:noFill/>
          <a:ln/>
        </p:spPr>
        <p:txBody>
          <a:bodyPr wrap="square" lIns="0" tIns="0" rIns="0" bIns="0" rtlCol="0" anchor="ctr"/>
          <a:lstStyle/>
          <a:p>
            <a:pPr marL="0" indent="0">
              <a:buNone/>
            </a:pPr>
            <a:r>
              <a:rPr lang="en-US" sz="1100" b="1" dirty="0">
                <a:solidFill>
                  <a:srgbClr val="94A3B8"/>
                </a:solidFill>
              </a:rPr>
              <a:t>Backend domain decision</a:t>
            </a:r>
            <a:endParaRPr lang="en-US" sz="1100" dirty="0"/>
          </a:p>
        </p:txBody>
      </p:sp>
      <p:sp>
        <p:nvSpPr>
          <p:cNvPr id="18" name="Text 16"/>
          <p:cNvSpPr/>
          <p:nvPr/>
        </p:nvSpPr>
        <p:spPr>
          <a:xfrm>
            <a:off x="7351776" y="3300984"/>
            <a:ext cx="4206240" cy="14721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public</a:t>
            </a:r>
            <a:r>
              <a:rPr lang="en-US" sz="1400" dirty="0">
                <a:solidFill>
                  <a:srgbClr val="FFFFFF"/>
                </a:solidFill>
                <a:latin typeface="Consolas" pitchFamily="34" charset="0"/>
                <a:ea typeface="Consolas" pitchFamily="34" charset="-122"/>
                <a:cs typeface="Consolas" pitchFamily="34" charset="-120"/>
              </a:rPr>
              <a:t> DocumentVersion AddVersion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string</a:t>
            </a:r>
            <a:r>
              <a:rPr lang="en-US" sz="1400" dirty="0">
                <a:solidFill>
                  <a:srgbClr val="FFFFFF"/>
                </a:solidFill>
                <a:latin typeface="Consolas" pitchFamily="34" charset="0"/>
                <a:ea typeface="Consolas" pitchFamily="34" charset="-122"/>
                <a:cs typeface="Consolas" pitchFamily="34" charset="-120"/>
              </a:rPr>
              <a:t> storagePath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long</a:t>
            </a:r>
            <a:r>
              <a:rPr lang="en-US" sz="1400" dirty="0">
                <a:solidFill>
                  <a:srgbClr val="FFFFFF"/>
                </a:solidFill>
                <a:latin typeface="Consolas" pitchFamily="34" charset="0"/>
                <a:ea typeface="Consolas" pitchFamily="34" charset="-122"/>
                <a:cs typeface="Consolas" pitchFamily="34" charset="-120"/>
              </a:rPr>
              <a:t> sizeInBytes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string</a:t>
            </a:r>
            <a:r>
              <a:rPr lang="en-US" sz="1400" dirty="0">
                <a:solidFill>
                  <a:srgbClr val="FFFFFF"/>
                </a:solidFill>
                <a:latin typeface="Consolas" pitchFamily="34" charset="0"/>
                <a:ea typeface="Consolas" pitchFamily="34" charset="-122"/>
                <a:cs typeface="Consolas" pitchFamily="34" charset="-120"/>
              </a:rPr>
              <a:t> createdBy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if</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string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IsNullOrWhiteSpace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storagePath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throw</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new</a:t>
            </a:r>
            <a:r>
              <a:rPr lang="en-US" sz="1400" dirty="0">
                <a:solidFill>
                  <a:srgbClr val="FFFFFF"/>
                </a:solidFill>
                <a:latin typeface="Consolas" pitchFamily="34" charset="0"/>
                <a:ea typeface="Consolas" pitchFamily="34" charset="-122"/>
                <a:cs typeface="Consolas" pitchFamily="34" charset="-120"/>
              </a:rPr>
              <a:t> ArgumentException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220" dirty="0"/>
          </a:p>
        </p:txBody>
      </p:sp>
      <p:sp>
        <p:nvSpPr>
          <p:cNvPr id="19" name="Shape 17"/>
          <p:cNvSpPr/>
          <p:nvPr/>
        </p:nvSpPr>
        <p:spPr>
          <a:xfrm>
            <a:off x="502920" y="5806440"/>
            <a:ext cx="11185855" cy="658368"/>
          </a:xfrm>
          <a:prstGeom prst="roundRect">
            <a:avLst>
              <a:gd name="adj" fmla="val 11111"/>
            </a:avLst>
          </a:prstGeom>
          <a:solidFill>
            <a:srgbClr val="111827"/>
          </a:solidFill>
          <a:ln w="12700">
            <a:solidFill>
              <a:srgbClr val="F59E0B"/>
            </a:solidFill>
            <a:prstDash val="solid"/>
          </a:ln>
        </p:spPr>
        <p:txBody>
          <a:bodyPr/>
          <a:lstStyle/>
          <a:p>
            <a:endParaRPr lang="pl-PL"/>
          </a:p>
        </p:txBody>
      </p:sp>
      <p:sp>
        <p:nvSpPr>
          <p:cNvPr id="20" name="Text 18"/>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Frontend ma dużo UI state i trochę stanu edytora, ale nie ma odpowiednika nazwanych decyzji domenowych z backendu.</a:t>
            </a:r>
            <a:endParaRPr lang="en-US" sz="1800" dirty="0"/>
          </a:p>
        </p:txBody>
      </p:sp>
      <p:sp>
        <p:nvSpPr>
          <p:cNvPr id="21" name="Text 19"/>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4</a:t>
            </a:r>
            <a:endParaRPr lang="en-US" sz="1000" dirty="0"/>
          </a:p>
        </p:txBody>
      </p:sp>
      <p:sp>
        <p:nvSpPr>
          <p:cNvPr id="22" name="Text 20"/>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Antywzorzec: komponent, który stał się use case’em</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280160"/>
            <a:ext cx="6583680" cy="4297680"/>
          </a:xfrm>
          <a:prstGeom prst="roundRect">
            <a:avLst>
              <a:gd name="adj" fmla="val 1702"/>
            </a:avLst>
          </a:prstGeom>
          <a:solidFill>
            <a:srgbClr val="0B1220"/>
          </a:solidFill>
          <a:ln w="12700">
            <a:solidFill>
              <a:srgbClr val="EF4444"/>
            </a:solidFill>
            <a:prstDash val="solid"/>
          </a:ln>
        </p:spPr>
        <p:txBody>
          <a:bodyPr/>
          <a:lstStyle/>
          <a:p>
            <a:endParaRPr lang="pl-PL"/>
          </a:p>
        </p:txBody>
      </p:sp>
      <p:sp>
        <p:nvSpPr>
          <p:cNvPr id="5" name="Text 3"/>
          <p:cNvSpPr/>
          <p:nvPr/>
        </p:nvSpPr>
        <p:spPr>
          <a:xfrm>
            <a:off x="612648" y="1344168"/>
            <a:ext cx="6364224" cy="164592"/>
          </a:xfrm>
          <a:prstGeom prst="rect">
            <a:avLst/>
          </a:prstGeom>
          <a:noFill/>
          <a:ln/>
        </p:spPr>
        <p:txBody>
          <a:bodyPr wrap="square" lIns="0" tIns="0" rIns="0" bIns="0" rtlCol="0" anchor="ctr"/>
          <a:lstStyle/>
          <a:p>
            <a:pPr marL="0" indent="0">
              <a:buNone/>
            </a:pPr>
            <a:r>
              <a:rPr lang="en-US" sz="1100" b="1" dirty="0">
                <a:solidFill>
                  <a:srgbClr val="94A3B8"/>
                </a:solidFill>
              </a:rPr>
              <a:t>DocumentEditorComponent.saveDocument()</a:t>
            </a:r>
            <a:endParaRPr lang="en-US" sz="1100" dirty="0"/>
          </a:p>
        </p:txBody>
      </p:sp>
      <p:sp>
        <p:nvSpPr>
          <p:cNvPr id="6" name="Text 4"/>
          <p:cNvSpPr/>
          <p:nvPr/>
        </p:nvSpPr>
        <p:spPr>
          <a:xfrm>
            <a:off x="630936" y="1517904"/>
            <a:ext cx="6327648" cy="39867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async</a:t>
            </a:r>
            <a:r>
              <a:rPr lang="en-US" sz="1400" dirty="0">
                <a:solidFill>
                  <a:srgbClr val="FFFFFF"/>
                </a:solidFill>
                <a:latin typeface="Consolas" pitchFamily="34" charset="0"/>
                <a:ea typeface="Consolas" pitchFamily="34" charset="-122"/>
                <a:cs typeface="Consolas" pitchFamily="34" charset="-120"/>
              </a:rPr>
              <a:t> saveDocument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Promise</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66D9EF"/>
                </a:solidFill>
                <a:latin typeface="Consolas" pitchFamily="34" charset="0"/>
                <a:ea typeface="Consolas" pitchFamily="34" charset="-122"/>
                <a:cs typeface="Consolas" pitchFamily="34" charset="-120"/>
              </a:rPr>
              <a:t>void</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const</a:t>
            </a:r>
            <a:r>
              <a:rPr lang="en-US" sz="1400" dirty="0">
                <a:solidFill>
                  <a:srgbClr val="FFFFFF"/>
                </a:solidFill>
                <a:latin typeface="Consolas" pitchFamily="34" charset="0"/>
                <a:ea typeface="Consolas" pitchFamily="34" charset="-122"/>
                <a:cs typeface="Consolas" pitchFamily="34" charset="-120"/>
              </a:rPr>
              <a:t> hasChanges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editorState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isModified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if</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hasChanges </a:t>
            </a:r>
            <a:r>
              <a:rPr lang="en-US" sz="1400" dirty="0">
                <a:solidFill>
                  <a:srgbClr val="F8F8F2"/>
                </a:solidFill>
                <a:latin typeface="Consolas" pitchFamily="34" charset="0"/>
                <a:ea typeface="Consolas" pitchFamily="34" charset="-122"/>
                <a:cs typeface="Consolas" pitchFamily="34" charset="-120"/>
              </a:rPr>
              <a:t>&amp;&amp;</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documentMasterId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showMessage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'success'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'Brak zmian do zapisania'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isLoading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save to API + error handling + navigation + notifications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7" name="Shape 5"/>
          <p:cNvSpPr/>
          <p:nvPr/>
        </p:nvSpPr>
        <p:spPr>
          <a:xfrm>
            <a:off x="7315200" y="1417320"/>
            <a:ext cx="4370832" cy="3474720"/>
          </a:xfrm>
          <a:prstGeom prst="roundRect">
            <a:avLst>
              <a:gd name="adj" fmla="val 2105"/>
            </a:avLst>
          </a:prstGeom>
          <a:solidFill>
            <a:srgbClr val="172033"/>
          </a:solidFill>
          <a:ln w="12700">
            <a:solidFill>
              <a:srgbClr val="F59E0B"/>
            </a:solidFill>
            <a:prstDash val="solid"/>
          </a:ln>
        </p:spPr>
        <p:txBody>
          <a:bodyPr/>
          <a:lstStyle/>
          <a:p>
            <a:endParaRPr lang="pl-PL"/>
          </a:p>
        </p:txBody>
      </p:sp>
      <p:sp>
        <p:nvSpPr>
          <p:cNvPr id="8" name="Text 6"/>
          <p:cNvSpPr/>
          <p:nvPr/>
        </p:nvSpPr>
        <p:spPr>
          <a:xfrm>
            <a:off x="7479792" y="1627632"/>
            <a:ext cx="3931920" cy="201168"/>
          </a:xfrm>
          <a:prstGeom prst="rect">
            <a:avLst/>
          </a:prstGeom>
          <a:noFill/>
          <a:ln/>
        </p:spPr>
        <p:txBody>
          <a:bodyPr wrap="square" lIns="0" tIns="0" rIns="0" bIns="0" rtlCol="0" anchor="ctr"/>
          <a:lstStyle/>
          <a:p>
            <a:pPr marL="0" indent="0">
              <a:buNone/>
            </a:pPr>
            <a:r>
              <a:rPr lang="en-US" sz="2000" b="1" dirty="0">
                <a:solidFill>
                  <a:srgbClr val="F59E0B"/>
                </a:solidFill>
              </a:rPr>
              <a:t>Ten komponent jednocześnie:</a:t>
            </a:r>
            <a:endParaRPr lang="en-US" sz="2000" dirty="0"/>
          </a:p>
        </p:txBody>
      </p:sp>
      <p:sp>
        <p:nvSpPr>
          <p:cNvPr id="9" name="Text 7"/>
          <p:cNvSpPr/>
          <p:nvPr/>
        </p:nvSpPr>
        <p:spPr>
          <a:xfrm>
            <a:off x="7479792" y="2057400"/>
            <a:ext cx="164592" cy="182880"/>
          </a:xfrm>
          <a:prstGeom prst="rect">
            <a:avLst/>
          </a:prstGeom>
          <a:noFill/>
          <a:ln/>
        </p:spPr>
        <p:txBody>
          <a:bodyPr wrap="square" lIns="0" tIns="0" rIns="0" bIns="0" rtlCol="0" anchor="ctr"/>
          <a:lstStyle/>
          <a:p>
            <a:pPr marL="0" indent="0">
              <a:buNone/>
            </a:pPr>
            <a:r>
              <a:rPr lang="en-US" sz="2000" b="1" dirty="0">
                <a:solidFill>
                  <a:srgbClr val="F59E0B"/>
                </a:solidFill>
              </a:rPr>
              <a:t>•</a:t>
            </a:r>
            <a:endParaRPr lang="en-US" sz="2000" dirty="0"/>
          </a:p>
        </p:txBody>
      </p:sp>
      <p:sp>
        <p:nvSpPr>
          <p:cNvPr id="10" name="Text 8"/>
          <p:cNvSpPr/>
          <p:nvPr/>
        </p:nvSpPr>
        <p:spPr>
          <a:xfrm>
            <a:off x="7680960" y="2048256"/>
            <a:ext cx="3639312" cy="219456"/>
          </a:xfrm>
          <a:prstGeom prst="rect">
            <a:avLst/>
          </a:prstGeom>
          <a:noFill/>
          <a:ln/>
        </p:spPr>
        <p:txBody>
          <a:bodyPr wrap="square" lIns="0" tIns="0" rIns="0" bIns="0" rtlCol="0" anchor="ctr"/>
          <a:lstStyle/>
          <a:p>
            <a:pPr marL="0" indent="0">
              <a:buNone/>
            </a:pPr>
            <a:r>
              <a:rPr lang="en-US" sz="2000" dirty="0">
                <a:solidFill>
                  <a:srgbClr val="E5E7EB"/>
                </a:solidFill>
              </a:rPr>
              <a:t>sprawdza regułę</a:t>
            </a:r>
            <a:endParaRPr lang="en-US" sz="2000" dirty="0"/>
          </a:p>
        </p:txBody>
      </p:sp>
      <p:sp>
        <p:nvSpPr>
          <p:cNvPr id="11" name="Text 9"/>
          <p:cNvSpPr/>
          <p:nvPr/>
        </p:nvSpPr>
        <p:spPr>
          <a:xfrm>
            <a:off x="7479792" y="2560320"/>
            <a:ext cx="164592" cy="182880"/>
          </a:xfrm>
          <a:prstGeom prst="rect">
            <a:avLst/>
          </a:prstGeom>
          <a:noFill/>
          <a:ln/>
        </p:spPr>
        <p:txBody>
          <a:bodyPr wrap="square" lIns="0" tIns="0" rIns="0" bIns="0" rtlCol="0" anchor="ctr"/>
          <a:lstStyle/>
          <a:p>
            <a:pPr marL="0" indent="0">
              <a:buNone/>
            </a:pPr>
            <a:r>
              <a:rPr lang="en-US" sz="2000" b="1" dirty="0">
                <a:solidFill>
                  <a:srgbClr val="F59E0B"/>
                </a:solidFill>
              </a:rPr>
              <a:t>•</a:t>
            </a:r>
            <a:endParaRPr lang="en-US" sz="2000" dirty="0"/>
          </a:p>
        </p:txBody>
      </p:sp>
      <p:sp>
        <p:nvSpPr>
          <p:cNvPr id="12" name="Text 10"/>
          <p:cNvSpPr/>
          <p:nvPr/>
        </p:nvSpPr>
        <p:spPr>
          <a:xfrm>
            <a:off x="7680960" y="2551176"/>
            <a:ext cx="3639312" cy="219456"/>
          </a:xfrm>
          <a:prstGeom prst="rect">
            <a:avLst/>
          </a:prstGeom>
          <a:noFill/>
          <a:ln/>
        </p:spPr>
        <p:txBody>
          <a:bodyPr wrap="square" lIns="0" tIns="0" rIns="0" bIns="0" rtlCol="0" anchor="ctr"/>
          <a:lstStyle/>
          <a:p>
            <a:pPr marL="0" indent="0">
              <a:buNone/>
            </a:pPr>
            <a:r>
              <a:rPr lang="en-US" sz="2000" dirty="0">
                <a:solidFill>
                  <a:srgbClr val="E5E7EB"/>
                </a:solidFill>
              </a:rPr>
              <a:t>uruchamia zapis</a:t>
            </a:r>
            <a:endParaRPr lang="en-US" sz="2000" dirty="0"/>
          </a:p>
        </p:txBody>
      </p:sp>
      <p:sp>
        <p:nvSpPr>
          <p:cNvPr id="13" name="Text 11"/>
          <p:cNvSpPr/>
          <p:nvPr/>
        </p:nvSpPr>
        <p:spPr>
          <a:xfrm>
            <a:off x="7479792" y="3063240"/>
            <a:ext cx="164592" cy="182880"/>
          </a:xfrm>
          <a:prstGeom prst="rect">
            <a:avLst/>
          </a:prstGeom>
          <a:noFill/>
          <a:ln/>
        </p:spPr>
        <p:txBody>
          <a:bodyPr wrap="square" lIns="0" tIns="0" rIns="0" bIns="0" rtlCol="0" anchor="ctr"/>
          <a:lstStyle/>
          <a:p>
            <a:pPr marL="0" indent="0">
              <a:buNone/>
            </a:pPr>
            <a:r>
              <a:rPr lang="en-US" sz="2000" b="1" dirty="0">
                <a:solidFill>
                  <a:srgbClr val="F59E0B"/>
                </a:solidFill>
              </a:rPr>
              <a:t>•</a:t>
            </a:r>
            <a:endParaRPr lang="en-US" sz="2000" dirty="0"/>
          </a:p>
        </p:txBody>
      </p:sp>
      <p:sp>
        <p:nvSpPr>
          <p:cNvPr id="14" name="Text 12"/>
          <p:cNvSpPr/>
          <p:nvPr/>
        </p:nvSpPr>
        <p:spPr>
          <a:xfrm>
            <a:off x="7680960" y="3054096"/>
            <a:ext cx="3639312" cy="219456"/>
          </a:xfrm>
          <a:prstGeom prst="rect">
            <a:avLst/>
          </a:prstGeom>
          <a:noFill/>
          <a:ln/>
        </p:spPr>
        <p:txBody>
          <a:bodyPr wrap="square" lIns="0" tIns="0" rIns="0" bIns="0" rtlCol="0" anchor="ctr"/>
          <a:lstStyle/>
          <a:p>
            <a:pPr marL="0" indent="0">
              <a:buNone/>
            </a:pPr>
            <a:r>
              <a:rPr lang="en-US" sz="2000" dirty="0">
                <a:solidFill>
                  <a:srgbClr val="E5E7EB"/>
                </a:solidFill>
              </a:rPr>
              <a:t>obsługuje błąd</a:t>
            </a:r>
            <a:endParaRPr lang="en-US" sz="2000" dirty="0"/>
          </a:p>
        </p:txBody>
      </p:sp>
      <p:sp>
        <p:nvSpPr>
          <p:cNvPr id="15" name="Text 13"/>
          <p:cNvSpPr/>
          <p:nvPr/>
        </p:nvSpPr>
        <p:spPr>
          <a:xfrm>
            <a:off x="7479792" y="3566160"/>
            <a:ext cx="164592" cy="182880"/>
          </a:xfrm>
          <a:prstGeom prst="rect">
            <a:avLst/>
          </a:prstGeom>
          <a:noFill/>
          <a:ln/>
        </p:spPr>
        <p:txBody>
          <a:bodyPr wrap="square" lIns="0" tIns="0" rIns="0" bIns="0" rtlCol="0" anchor="ctr"/>
          <a:lstStyle/>
          <a:p>
            <a:pPr marL="0" indent="0">
              <a:buNone/>
            </a:pPr>
            <a:r>
              <a:rPr lang="en-US" sz="2000" b="1" dirty="0">
                <a:solidFill>
                  <a:srgbClr val="F59E0B"/>
                </a:solidFill>
              </a:rPr>
              <a:t>•</a:t>
            </a:r>
            <a:endParaRPr lang="en-US" sz="2000" dirty="0"/>
          </a:p>
        </p:txBody>
      </p:sp>
      <p:sp>
        <p:nvSpPr>
          <p:cNvPr id="16" name="Text 14"/>
          <p:cNvSpPr/>
          <p:nvPr/>
        </p:nvSpPr>
        <p:spPr>
          <a:xfrm>
            <a:off x="7680960" y="3557016"/>
            <a:ext cx="3639312" cy="219456"/>
          </a:xfrm>
          <a:prstGeom prst="rect">
            <a:avLst/>
          </a:prstGeom>
          <a:noFill/>
          <a:ln/>
        </p:spPr>
        <p:txBody>
          <a:bodyPr wrap="square" lIns="0" tIns="0" rIns="0" bIns="0" rtlCol="0" anchor="ctr"/>
          <a:lstStyle/>
          <a:p>
            <a:pPr marL="0" indent="0">
              <a:buNone/>
            </a:pPr>
            <a:r>
              <a:rPr lang="en-US" sz="2000" dirty="0">
                <a:solidFill>
                  <a:srgbClr val="E5E7EB"/>
                </a:solidFill>
              </a:rPr>
              <a:t>steruje UI po wyniku</a:t>
            </a:r>
            <a:endParaRPr lang="en-US" sz="2000" dirty="0"/>
          </a:p>
        </p:txBody>
      </p:sp>
      <p:sp>
        <p:nvSpPr>
          <p:cNvPr id="17" name="Shape 15"/>
          <p:cNvSpPr/>
          <p:nvPr/>
        </p:nvSpPr>
        <p:spPr>
          <a:xfrm>
            <a:off x="502920" y="5806440"/>
            <a:ext cx="11185855" cy="658368"/>
          </a:xfrm>
          <a:prstGeom prst="roundRect">
            <a:avLst>
              <a:gd name="adj" fmla="val 11111"/>
            </a:avLst>
          </a:prstGeom>
          <a:solidFill>
            <a:srgbClr val="111827"/>
          </a:solidFill>
          <a:ln w="12700">
            <a:solidFill>
              <a:srgbClr val="EF4444"/>
            </a:solidFill>
            <a:prstDash val="solid"/>
          </a:ln>
        </p:spPr>
        <p:txBody>
          <a:bodyPr/>
          <a:lstStyle/>
          <a:p>
            <a:endParaRPr lang="pl-PL"/>
          </a:p>
        </p:txBody>
      </p:sp>
      <p:sp>
        <p:nvSpPr>
          <p:cNvPr id="18" name="Text 16"/>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Komponent przestał być UI. Stał się use case’em.</a:t>
            </a:r>
            <a:endParaRPr lang="en-US" sz="1800" dirty="0"/>
          </a:p>
        </p:txBody>
      </p:sp>
      <p:sp>
        <p:nvSpPr>
          <p:cNvPr id="19" name="Text 17"/>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5</a:t>
            </a:r>
            <a:endParaRPr lang="en-US" sz="1000" dirty="0"/>
          </a:p>
        </p:txBody>
      </p:sp>
      <p:sp>
        <p:nvSpPr>
          <p:cNvPr id="20" name="Text 18"/>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Lepszy układ: commands in, projection out</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70432"/>
            <a:ext cx="5440680" cy="2011680"/>
          </a:xfrm>
          <a:prstGeom prst="roundRect">
            <a:avLst>
              <a:gd name="adj" fmla="val 3636"/>
            </a:avLst>
          </a:prstGeom>
          <a:solidFill>
            <a:srgbClr val="172033"/>
          </a:solidFill>
          <a:ln w="12700">
            <a:solidFill>
              <a:srgbClr val="22D3EE"/>
            </a:solidFill>
            <a:prstDash val="solid"/>
          </a:ln>
        </p:spPr>
        <p:txBody>
          <a:bodyPr/>
          <a:lstStyle/>
          <a:p>
            <a:endParaRPr lang="pl-PL"/>
          </a:p>
        </p:txBody>
      </p:sp>
      <p:sp>
        <p:nvSpPr>
          <p:cNvPr id="5" name="Shape 3"/>
          <p:cNvSpPr/>
          <p:nvPr/>
        </p:nvSpPr>
        <p:spPr>
          <a:xfrm>
            <a:off x="6245352" y="1170432"/>
            <a:ext cx="5440680" cy="2011680"/>
          </a:xfrm>
          <a:prstGeom prst="roundRect">
            <a:avLst>
              <a:gd name="adj" fmla="val 3636"/>
            </a:avLst>
          </a:prstGeom>
          <a:solidFill>
            <a:srgbClr val="172033"/>
          </a:solidFill>
          <a:ln w="12700">
            <a:solidFill>
              <a:srgbClr val="F59E0B"/>
            </a:solidFill>
            <a:prstDash val="solid"/>
          </a:ln>
        </p:spPr>
        <p:txBody>
          <a:bodyPr/>
          <a:lstStyle/>
          <a:p>
            <a:endParaRPr lang="pl-PL"/>
          </a:p>
        </p:txBody>
      </p:sp>
      <p:sp>
        <p:nvSpPr>
          <p:cNvPr id="6" name="Text 4"/>
          <p:cNvSpPr/>
          <p:nvPr/>
        </p:nvSpPr>
        <p:spPr>
          <a:xfrm>
            <a:off x="667512" y="1353312"/>
            <a:ext cx="2286000" cy="182880"/>
          </a:xfrm>
          <a:prstGeom prst="rect">
            <a:avLst/>
          </a:prstGeom>
          <a:noFill/>
          <a:ln/>
        </p:spPr>
        <p:txBody>
          <a:bodyPr wrap="square" lIns="0" tIns="0" rIns="0" bIns="0" rtlCol="0" anchor="ctr"/>
          <a:lstStyle/>
          <a:p>
            <a:pPr marL="0" indent="0">
              <a:buNone/>
            </a:pPr>
            <a:r>
              <a:rPr lang="en-US" sz="2200" b="1" dirty="0">
                <a:solidFill>
                  <a:srgbClr val="22D3EE"/>
                </a:solidFill>
              </a:rPr>
              <a:t>Backend już to ma</a:t>
            </a:r>
            <a:endParaRPr lang="en-US" sz="2200" dirty="0"/>
          </a:p>
        </p:txBody>
      </p:sp>
      <p:sp>
        <p:nvSpPr>
          <p:cNvPr id="7" name="Text 5"/>
          <p:cNvSpPr/>
          <p:nvPr/>
        </p:nvSpPr>
        <p:spPr>
          <a:xfrm>
            <a:off x="594360" y="1737360"/>
            <a:ext cx="164592" cy="182880"/>
          </a:xfrm>
          <a:prstGeom prst="rect">
            <a:avLst/>
          </a:prstGeom>
          <a:noFill/>
          <a:ln/>
        </p:spPr>
        <p:txBody>
          <a:bodyPr wrap="square" lIns="0" tIns="0" rIns="0" bIns="0" rtlCol="0" anchor="ctr"/>
          <a:lstStyle/>
          <a:p>
            <a:pPr marL="0" indent="0">
              <a:buNone/>
            </a:pPr>
            <a:r>
              <a:rPr lang="en-US" sz="1900" b="1" dirty="0">
                <a:solidFill>
                  <a:srgbClr val="22D3EE"/>
                </a:solidFill>
              </a:rPr>
              <a:t>•</a:t>
            </a:r>
            <a:endParaRPr lang="en-US" sz="1900" dirty="0"/>
          </a:p>
        </p:txBody>
      </p:sp>
      <p:sp>
        <p:nvSpPr>
          <p:cNvPr id="8" name="Text 6"/>
          <p:cNvSpPr/>
          <p:nvPr/>
        </p:nvSpPr>
        <p:spPr>
          <a:xfrm>
            <a:off x="795528" y="1728216"/>
            <a:ext cx="2999232" cy="219456"/>
          </a:xfrm>
          <a:prstGeom prst="rect">
            <a:avLst/>
          </a:prstGeom>
          <a:noFill/>
          <a:ln/>
        </p:spPr>
        <p:txBody>
          <a:bodyPr wrap="square" lIns="0" tIns="0" rIns="0" bIns="0" rtlCol="0" anchor="ctr"/>
          <a:lstStyle/>
          <a:p>
            <a:pPr marL="0" indent="0">
              <a:buNone/>
            </a:pPr>
            <a:r>
              <a:rPr lang="en-US" sz="1900" dirty="0">
                <a:solidFill>
                  <a:srgbClr val="E5E7EB"/>
                </a:solidFill>
              </a:rPr>
              <a:t>Controller</a:t>
            </a:r>
            <a:endParaRPr lang="en-US" sz="1900" dirty="0"/>
          </a:p>
        </p:txBody>
      </p:sp>
      <p:sp>
        <p:nvSpPr>
          <p:cNvPr id="9" name="Text 7"/>
          <p:cNvSpPr/>
          <p:nvPr/>
        </p:nvSpPr>
        <p:spPr>
          <a:xfrm>
            <a:off x="594360" y="2039112"/>
            <a:ext cx="164592" cy="182880"/>
          </a:xfrm>
          <a:prstGeom prst="rect">
            <a:avLst/>
          </a:prstGeom>
          <a:noFill/>
          <a:ln/>
        </p:spPr>
        <p:txBody>
          <a:bodyPr wrap="square" lIns="0" tIns="0" rIns="0" bIns="0" rtlCol="0" anchor="ctr"/>
          <a:lstStyle/>
          <a:p>
            <a:pPr marL="0" indent="0">
              <a:buNone/>
            </a:pPr>
            <a:r>
              <a:rPr lang="en-US" sz="1900" b="1" dirty="0">
                <a:solidFill>
                  <a:srgbClr val="22D3EE"/>
                </a:solidFill>
              </a:rPr>
              <a:t>•</a:t>
            </a:r>
            <a:endParaRPr lang="en-US" sz="1900" dirty="0"/>
          </a:p>
        </p:txBody>
      </p:sp>
      <p:sp>
        <p:nvSpPr>
          <p:cNvPr id="10" name="Text 8"/>
          <p:cNvSpPr/>
          <p:nvPr/>
        </p:nvSpPr>
        <p:spPr>
          <a:xfrm>
            <a:off x="795528" y="2029968"/>
            <a:ext cx="2999232" cy="219456"/>
          </a:xfrm>
          <a:prstGeom prst="rect">
            <a:avLst/>
          </a:prstGeom>
          <a:noFill/>
          <a:ln/>
        </p:spPr>
        <p:txBody>
          <a:bodyPr wrap="square" lIns="0" tIns="0" rIns="0" bIns="0" rtlCol="0" anchor="ctr"/>
          <a:lstStyle/>
          <a:p>
            <a:pPr marL="0" indent="0">
              <a:buNone/>
            </a:pPr>
            <a:r>
              <a:rPr lang="en-US" sz="1900" dirty="0">
                <a:solidFill>
                  <a:srgbClr val="E5E7EB"/>
                </a:solidFill>
              </a:rPr>
              <a:t>MediatR</a:t>
            </a:r>
            <a:endParaRPr lang="en-US" sz="1900" dirty="0"/>
          </a:p>
        </p:txBody>
      </p:sp>
      <p:sp>
        <p:nvSpPr>
          <p:cNvPr id="11" name="Text 9"/>
          <p:cNvSpPr/>
          <p:nvPr/>
        </p:nvSpPr>
        <p:spPr>
          <a:xfrm>
            <a:off x="594360" y="2340864"/>
            <a:ext cx="164592" cy="182880"/>
          </a:xfrm>
          <a:prstGeom prst="rect">
            <a:avLst/>
          </a:prstGeom>
          <a:noFill/>
          <a:ln/>
        </p:spPr>
        <p:txBody>
          <a:bodyPr wrap="square" lIns="0" tIns="0" rIns="0" bIns="0" rtlCol="0" anchor="ctr"/>
          <a:lstStyle/>
          <a:p>
            <a:pPr marL="0" indent="0">
              <a:buNone/>
            </a:pPr>
            <a:r>
              <a:rPr lang="en-US" sz="1900" b="1" dirty="0">
                <a:solidFill>
                  <a:srgbClr val="22D3EE"/>
                </a:solidFill>
              </a:rPr>
              <a:t>•</a:t>
            </a:r>
            <a:endParaRPr lang="en-US" sz="1900" dirty="0"/>
          </a:p>
        </p:txBody>
      </p:sp>
      <p:sp>
        <p:nvSpPr>
          <p:cNvPr id="12" name="Text 10"/>
          <p:cNvSpPr/>
          <p:nvPr/>
        </p:nvSpPr>
        <p:spPr>
          <a:xfrm>
            <a:off x="795528" y="2331720"/>
            <a:ext cx="2999232" cy="219456"/>
          </a:xfrm>
          <a:prstGeom prst="rect">
            <a:avLst/>
          </a:prstGeom>
          <a:noFill/>
          <a:ln/>
        </p:spPr>
        <p:txBody>
          <a:bodyPr wrap="square" lIns="0" tIns="0" rIns="0" bIns="0" rtlCol="0" anchor="ctr"/>
          <a:lstStyle/>
          <a:p>
            <a:pPr marL="0" indent="0">
              <a:buNone/>
            </a:pPr>
            <a:r>
              <a:rPr lang="en-US" sz="1900" dirty="0">
                <a:solidFill>
                  <a:srgbClr val="E5E7EB"/>
                </a:solidFill>
              </a:rPr>
              <a:t>CommandHandler</a:t>
            </a:r>
            <a:endParaRPr lang="en-US" sz="1900" dirty="0"/>
          </a:p>
        </p:txBody>
      </p:sp>
      <p:sp>
        <p:nvSpPr>
          <p:cNvPr id="13" name="Text 11"/>
          <p:cNvSpPr/>
          <p:nvPr/>
        </p:nvSpPr>
        <p:spPr>
          <a:xfrm>
            <a:off x="594360" y="2642616"/>
            <a:ext cx="164592" cy="182880"/>
          </a:xfrm>
          <a:prstGeom prst="rect">
            <a:avLst/>
          </a:prstGeom>
          <a:noFill/>
          <a:ln/>
        </p:spPr>
        <p:txBody>
          <a:bodyPr wrap="square" lIns="0" tIns="0" rIns="0" bIns="0" rtlCol="0" anchor="ctr"/>
          <a:lstStyle/>
          <a:p>
            <a:pPr marL="0" indent="0">
              <a:buNone/>
            </a:pPr>
            <a:r>
              <a:rPr lang="en-US" sz="1900" b="1" dirty="0">
                <a:solidFill>
                  <a:srgbClr val="22D3EE"/>
                </a:solidFill>
              </a:rPr>
              <a:t>•</a:t>
            </a:r>
            <a:endParaRPr lang="en-US" sz="1900" dirty="0"/>
          </a:p>
        </p:txBody>
      </p:sp>
      <p:sp>
        <p:nvSpPr>
          <p:cNvPr id="14" name="Text 12"/>
          <p:cNvSpPr/>
          <p:nvPr/>
        </p:nvSpPr>
        <p:spPr>
          <a:xfrm>
            <a:off x="795528" y="2633472"/>
            <a:ext cx="2999232" cy="219456"/>
          </a:xfrm>
          <a:prstGeom prst="rect">
            <a:avLst/>
          </a:prstGeom>
          <a:noFill/>
          <a:ln/>
        </p:spPr>
        <p:txBody>
          <a:bodyPr wrap="square" lIns="0" tIns="0" rIns="0" bIns="0" rtlCol="0" anchor="ctr"/>
          <a:lstStyle/>
          <a:p>
            <a:pPr marL="0" indent="0">
              <a:buNone/>
            </a:pPr>
            <a:r>
              <a:rPr lang="en-US" sz="1900" dirty="0">
                <a:solidFill>
                  <a:srgbClr val="E5E7EB"/>
                </a:solidFill>
              </a:rPr>
              <a:t>Converter</a:t>
            </a:r>
            <a:endParaRPr lang="en-US" sz="1900" dirty="0"/>
          </a:p>
        </p:txBody>
      </p:sp>
      <p:sp>
        <p:nvSpPr>
          <p:cNvPr id="15" name="Text 13"/>
          <p:cNvSpPr/>
          <p:nvPr/>
        </p:nvSpPr>
        <p:spPr>
          <a:xfrm>
            <a:off x="594360" y="2944368"/>
            <a:ext cx="164592" cy="182880"/>
          </a:xfrm>
          <a:prstGeom prst="rect">
            <a:avLst/>
          </a:prstGeom>
          <a:noFill/>
          <a:ln/>
        </p:spPr>
        <p:txBody>
          <a:bodyPr wrap="square" lIns="0" tIns="0" rIns="0" bIns="0" rtlCol="0" anchor="ctr"/>
          <a:lstStyle/>
          <a:p>
            <a:pPr marL="0" indent="0">
              <a:buNone/>
            </a:pPr>
            <a:r>
              <a:rPr lang="en-US" sz="1900" b="1" dirty="0">
                <a:solidFill>
                  <a:srgbClr val="22D3EE"/>
                </a:solidFill>
              </a:rPr>
              <a:t>•</a:t>
            </a:r>
            <a:endParaRPr lang="en-US" sz="1900" dirty="0"/>
          </a:p>
        </p:txBody>
      </p:sp>
      <p:sp>
        <p:nvSpPr>
          <p:cNvPr id="16" name="Text 14"/>
          <p:cNvSpPr/>
          <p:nvPr/>
        </p:nvSpPr>
        <p:spPr>
          <a:xfrm>
            <a:off x="795528" y="2935224"/>
            <a:ext cx="2999232" cy="219456"/>
          </a:xfrm>
          <a:prstGeom prst="rect">
            <a:avLst/>
          </a:prstGeom>
          <a:noFill/>
          <a:ln/>
        </p:spPr>
        <p:txBody>
          <a:bodyPr wrap="square" lIns="0" tIns="0" rIns="0" bIns="0" rtlCol="0" anchor="ctr"/>
          <a:lstStyle/>
          <a:p>
            <a:pPr marL="0" indent="0">
              <a:buNone/>
            </a:pPr>
            <a:r>
              <a:rPr lang="en-US" sz="1900" dirty="0">
                <a:solidFill>
                  <a:srgbClr val="E5E7EB"/>
                </a:solidFill>
              </a:rPr>
              <a:t>Result</a:t>
            </a:r>
            <a:endParaRPr lang="en-US" sz="1900" dirty="0"/>
          </a:p>
        </p:txBody>
      </p:sp>
      <p:sp>
        <p:nvSpPr>
          <p:cNvPr id="17" name="Text 15"/>
          <p:cNvSpPr/>
          <p:nvPr/>
        </p:nvSpPr>
        <p:spPr>
          <a:xfrm>
            <a:off x="6409944" y="1353312"/>
            <a:ext cx="3474720" cy="182880"/>
          </a:xfrm>
          <a:prstGeom prst="rect">
            <a:avLst/>
          </a:prstGeom>
          <a:noFill/>
          <a:ln/>
        </p:spPr>
        <p:txBody>
          <a:bodyPr wrap="square" lIns="0" tIns="0" rIns="0" bIns="0" rtlCol="0" anchor="ctr"/>
          <a:lstStyle/>
          <a:p>
            <a:pPr marL="0" indent="0">
              <a:buNone/>
            </a:pPr>
            <a:r>
              <a:rPr lang="en-US" sz="2200" b="1" dirty="0">
                <a:solidFill>
                  <a:srgbClr val="F59E0B"/>
                </a:solidFill>
              </a:rPr>
              <a:t>Frontend tego jeszcze nie ma</a:t>
            </a:r>
            <a:endParaRPr lang="en-US" sz="2200" dirty="0"/>
          </a:p>
        </p:txBody>
      </p:sp>
      <p:sp>
        <p:nvSpPr>
          <p:cNvPr id="18" name="Text 16"/>
          <p:cNvSpPr/>
          <p:nvPr/>
        </p:nvSpPr>
        <p:spPr>
          <a:xfrm>
            <a:off x="6345936" y="1737360"/>
            <a:ext cx="164592" cy="182880"/>
          </a:xfrm>
          <a:prstGeom prst="rect">
            <a:avLst/>
          </a:prstGeom>
          <a:noFill/>
          <a:ln/>
        </p:spPr>
        <p:txBody>
          <a:bodyPr wrap="square" lIns="0" tIns="0" rIns="0" bIns="0" rtlCol="0" anchor="ctr"/>
          <a:lstStyle/>
          <a:p>
            <a:pPr marL="0" indent="0">
              <a:buNone/>
            </a:pPr>
            <a:r>
              <a:rPr lang="en-US" sz="1900" b="1" dirty="0">
                <a:solidFill>
                  <a:srgbClr val="F59E0B"/>
                </a:solidFill>
              </a:rPr>
              <a:t>•</a:t>
            </a:r>
            <a:endParaRPr lang="en-US" sz="1900" dirty="0"/>
          </a:p>
        </p:txBody>
      </p:sp>
      <p:sp>
        <p:nvSpPr>
          <p:cNvPr id="19" name="Text 17"/>
          <p:cNvSpPr/>
          <p:nvPr/>
        </p:nvSpPr>
        <p:spPr>
          <a:xfrm>
            <a:off x="6547104" y="1728216"/>
            <a:ext cx="3273552" cy="219456"/>
          </a:xfrm>
          <a:prstGeom prst="rect">
            <a:avLst/>
          </a:prstGeom>
          <a:noFill/>
          <a:ln/>
        </p:spPr>
        <p:txBody>
          <a:bodyPr wrap="square" lIns="0" tIns="0" rIns="0" bIns="0" rtlCol="0" anchor="ctr"/>
          <a:lstStyle/>
          <a:p>
            <a:pPr marL="0" indent="0">
              <a:buNone/>
            </a:pPr>
            <a:r>
              <a:rPr lang="en-US" sz="1900" dirty="0">
                <a:solidFill>
                  <a:srgbClr val="E5E7EB"/>
                </a:solidFill>
              </a:rPr>
              <a:t>Component</a:t>
            </a:r>
            <a:endParaRPr lang="en-US" sz="1900" dirty="0"/>
          </a:p>
        </p:txBody>
      </p:sp>
      <p:sp>
        <p:nvSpPr>
          <p:cNvPr id="20" name="Text 18"/>
          <p:cNvSpPr/>
          <p:nvPr/>
        </p:nvSpPr>
        <p:spPr>
          <a:xfrm>
            <a:off x="6345936" y="2039112"/>
            <a:ext cx="164592" cy="182880"/>
          </a:xfrm>
          <a:prstGeom prst="rect">
            <a:avLst/>
          </a:prstGeom>
          <a:noFill/>
          <a:ln/>
        </p:spPr>
        <p:txBody>
          <a:bodyPr wrap="square" lIns="0" tIns="0" rIns="0" bIns="0" rtlCol="0" anchor="ctr"/>
          <a:lstStyle/>
          <a:p>
            <a:pPr marL="0" indent="0">
              <a:buNone/>
            </a:pPr>
            <a:r>
              <a:rPr lang="en-US" sz="1900" b="1" dirty="0">
                <a:solidFill>
                  <a:srgbClr val="F59E0B"/>
                </a:solidFill>
              </a:rPr>
              <a:t>•</a:t>
            </a:r>
            <a:endParaRPr lang="en-US" sz="1900" dirty="0"/>
          </a:p>
        </p:txBody>
      </p:sp>
      <p:sp>
        <p:nvSpPr>
          <p:cNvPr id="21" name="Text 19"/>
          <p:cNvSpPr/>
          <p:nvPr/>
        </p:nvSpPr>
        <p:spPr>
          <a:xfrm>
            <a:off x="6547104" y="2029968"/>
            <a:ext cx="3273552" cy="219456"/>
          </a:xfrm>
          <a:prstGeom prst="rect">
            <a:avLst/>
          </a:prstGeom>
          <a:noFill/>
          <a:ln/>
        </p:spPr>
        <p:txBody>
          <a:bodyPr wrap="square" lIns="0" tIns="0" rIns="0" bIns="0" rtlCol="0" anchor="ctr"/>
          <a:lstStyle/>
          <a:p>
            <a:pPr marL="0" indent="0">
              <a:buNone/>
            </a:pPr>
            <a:r>
              <a:rPr lang="en-US" sz="1900" dirty="0">
                <a:solidFill>
                  <a:srgbClr val="E5E7EB"/>
                </a:solidFill>
              </a:rPr>
              <a:t>Service</a:t>
            </a:r>
            <a:endParaRPr lang="en-US" sz="1900" dirty="0"/>
          </a:p>
        </p:txBody>
      </p:sp>
      <p:sp>
        <p:nvSpPr>
          <p:cNvPr id="22" name="Text 20"/>
          <p:cNvSpPr/>
          <p:nvPr/>
        </p:nvSpPr>
        <p:spPr>
          <a:xfrm>
            <a:off x="6345936" y="2340864"/>
            <a:ext cx="164592" cy="182880"/>
          </a:xfrm>
          <a:prstGeom prst="rect">
            <a:avLst/>
          </a:prstGeom>
          <a:noFill/>
          <a:ln/>
        </p:spPr>
        <p:txBody>
          <a:bodyPr wrap="square" lIns="0" tIns="0" rIns="0" bIns="0" rtlCol="0" anchor="ctr"/>
          <a:lstStyle/>
          <a:p>
            <a:pPr marL="0" indent="0">
              <a:buNone/>
            </a:pPr>
            <a:r>
              <a:rPr lang="en-US" sz="1900" b="1" dirty="0">
                <a:solidFill>
                  <a:srgbClr val="F59E0B"/>
                </a:solidFill>
              </a:rPr>
              <a:t>•</a:t>
            </a:r>
            <a:endParaRPr lang="en-US" sz="1900" dirty="0"/>
          </a:p>
        </p:txBody>
      </p:sp>
      <p:sp>
        <p:nvSpPr>
          <p:cNvPr id="23" name="Text 21"/>
          <p:cNvSpPr/>
          <p:nvPr/>
        </p:nvSpPr>
        <p:spPr>
          <a:xfrm>
            <a:off x="6547104" y="2331720"/>
            <a:ext cx="3273552" cy="219456"/>
          </a:xfrm>
          <a:prstGeom prst="rect">
            <a:avLst/>
          </a:prstGeom>
          <a:noFill/>
          <a:ln/>
        </p:spPr>
        <p:txBody>
          <a:bodyPr wrap="square" lIns="0" tIns="0" rIns="0" bIns="0" rtlCol="0" anchor="ctr"/>
          <a:lstStyle/>
          <a:p>
            <a:pPr marL="0" indent="0">
              <a:buNone/>
            </a:pPr>
            <a:r>
              <a:rPr lang="en-US" sz="1900" dirty="0">
                <a:solidFill>
                  <a:srgbClr val="E5E7EB"/>
                </a:solidFill>
              </a:rPr>
              <a:t>HTTP</a:t>
            </a:r>
            <a:endParaRPr lang="en-US" sz="1900" dirty="0"/>
          </a:p>
        </p:txBody>
      </p:sp>
      <p:sp>
        <p:nvSpPr>
          <p:cNvPr id="24" name="Text 22"/>
          <p:cNvSpPr/>
          <p:nvPr/>
        </p:nvSpPr>
        <p:spPr>
          <a:xfrm>
            <a:off x="6345936" y="2642616"/>
            <a:ext cx="164592" cy="182880"/>
          </a:xfrm>
          <a:prstGeom prst="rect">
            <a:avLst/>
          </a:prstGeom>
          <a:noFill/>
          <a:ln/>
        </p:spPr>
        <p:txBody>
          <a:bodyPr wrap="square" lIns="0" tIns="0" rIns="0" bIns="0" rtlCol="0" anchor="ctr"/>
          <a:lstStyle/>
          <a:p>
            <a:pPr marL="0" indent="0">
              <a:buNone/>
            </a:pPr>
            <a:r>
              <a:rPr lang="en-US" sz="1900" b="1" dirty="0">
                <a:solidFill>
                  <a:srgbClr val="F59E0B"/>
                </a:solidFill>
              </a:rPr>
              <a:t>•</a:t>
            </a:r>
            <a:endParaRPr lang="en-US" sz="1900" dirty="0"/>
          </a:p>
        </p:txBody>
      </p:sp>
      <p:sp>
        <p:nvSpPr>
          <p:cNvPr id="25" name="Text 23"/>
          <p:cNvSpPr/>
          <p:nvPr/>
        </p:nvSpPr>
        <p:spPr>
          <a:xfrm>
            <a:off x="6547104" y="2633472"/>
            <a:ext cx="3273552" cy="219456"/>
          </a:xfrm>
          <a:prstGeom prst="rect">
            <a:avLst/>
          </a:prstGeom>
          <a:noFill/>
          <a:ln/>
        </p:spPr>
        <p:txBody>
          <a:bodyPr wrap="square" lIns="0" tIns="0" rIns="0" bIns="0" rtlCol="0" anchor="ctr"/>
          <a:lstStyle/>
          <a:p>
            <a:pPr marL="0" indent="0">
              <a:buNone/>
            </a:pPr>
            <a:r>
              <a:rPr lang="en-US" sz="1900" dirty="0">
                <a:solidFill>
                  <a:srgbClr val="E5E7EB"/>
                </a:solidFill>
              </a:rPr>
              <a:t>brak fasady</a:t>
            </a:r>
            <a:endParaRPr lang="en-US" sz="1900" dirty="0"/>
          </a:p>
        </p:txBody>
      </p:sp>
      <p:sp>
        <p:nvSpPr>
          <p:cNvPr id="26" name="Text 24"/>
          <p:cNvSpPr/>
          <p:nvPr/>
        </p:nvSpPr>
        <p:spPr>
          <a:xfrm>
            <a:off x="6345936" y="2944368"/>
            <a:ext cx="164592" cy="182880"/>
          </a:xfrm>
          <a:prstGeom prst="rect">
            <a:avLst/>
          </a:prstGeom>
          <a:noFill/>
          <a:ln/>
        </p:spPr>
        <p:txBody>
          <a:bodyPr wrap="square" lIns="0" tIns="0" rIns="0" bIns="0" rtlCol="0" anchor="ctr"/>
          <a:lstStyle/>
          <a:p>
            <a:pPr marL="0" indent="0">
              <a:buNone/>
            </a:pPr>
            <a:r>
              <a:rPr lang="en-US" sz="1900" b="1" dirty="0">
                <a:solidFill>
                  <a:srgbClr val="F59E0B"/>
                </a:solidFill>
              </a:rPr>
              <a:t>•</a:t>
            </a:r>
            <a:endParaRPr lang="en-US" sz="1900" dirty="0"/>
          </a:p>
        </p:txBody>
      </p:sp>
      <p:sp>
        <p:nvSpPr>
          <p:cNvPr id="27" name="Text 25"/>
          <p:cNvSpPr/>
          <p:nvPr/>
        </p:nvSpPr>
        <p:spPr>
          <a:xfrm>
            <a:off x="6547104" y="2935224"/>
            <a:ext cx="3273552" cy="219456"/>
          </a:xfrm>
          <a:prstGeom prst="rect">
            <a:avLst/>
          </a:prstGeom>
          <a:noFill/>
          <a:ln/>
        </p:spPr>
        <p:txBody>
          <a:bodyPr wrap="square" lIns="0" tIns="0" rIns="0" bIns="0" rtlCol="0" anchor="ctr"/>
          <a:lstStyle/>
          <a:p>
            <a:pPr marL="0" indent="0">
              <a:buNone/>
            </a:pPr>
            <a:r>
              <a:rPr lang="en-US" sz="1900" dirty="0">
                <a:solidFill>
                  <a:srgbClr val="E5E7EB"/>
                </a:solidFill>
              </a:rPr>
              <a:t>brak use case layer</a:t>
            </a:r>
            <a:endParaRPr lang="en-US" sz="1900" dirty="0"/>
          </a:p>
        </p:txBody>
      </p:sp>
      <p:sp>
        <p:nvSpPr>
          <p:cNvPr id="28" name="Shape 26"/>
          <p:cNvSpPr/>
          <p:nvPr/>
        </p:nvSpPr>
        <p:spPr>
          <a:xfrm>
            <a:off x="502920" y="3493008"/>
            <a:ext cx="5532120" cy="1783080"/>
          </a:xfrm>
          <a:prstGeom prst="roundRect">
            <a:avLst>
              <a:gd name="adj" fmla="val 4103"/>
            </a:avLst>
          </a:prstGeom>
          <a:solidFill>
            <a:srgbClr val="0B1220"/>
          </a:solidFill>
          <a:ln w="12700">
            <a:solidFill>
              <a:srgbClr val="22D3EE"/>
            </a:solidFill>
            <a:prstDash val="solid"/>
          </a:ln>
        </p:spPr>
        <p:txBody>
          <a:bodyPr/>
          <a:lstStyle/>
          <a:p>
            <a:endParaRPr lang="pl-PL"/>
          </a:p>
        </p:txBody>
      </p:sp>
      <p:sp>
        <p:nvSpPr>
          <p:cNvPr id="29" name="Text 27"/>
          <p:cNvSpPr/>
          <p:nvPr/>
        </p:nvSpPr>
        <p:spPr>
          <a:xfrm>
            <a:off x="612648" y="3557016"/>
            <a:ext cx="5312664" cy="164592"/>
          </a:xfrm>
          <a:prstGeom prst="rect">
            <a:avLst/>
          </a:prstGeom>
          <a:noFill/>
          <a:ln/>
        </p:spPr>
        <p:txBody>
          <a:bodyPr wrap="square" lIns="0" tIns="0" rIns="0" bIns="0" rtlCol="0" anchor="ctr"/>
          <a:lstStyle/>
          <a:p>
            <a:pPr marL="0" indent="0">
              <a:buNone/>
            </a:pPr>
            <a:r>
              <a:rPr lang="en-US" sz="1100" b="1" dirty="0">
                <a:solidFill>
                  <a:srgbClr val="94A3B8"/>
                </a:solidFill>
              </a:rPr>
              <a:t>SaveDocumentCommandHandler</a:t>
            </a:r>
            <a:endParaRPr lang="en-US" sz="1100" dirty="0"/>
          </a:p>
        </p:txBody>
      </p:sp>
      <p:sp>
        <p:nvSpPr>
          <p:cNvPr id="30" name="Text 28"/>
          <p:cNvSpPr/>
          <p:nvPr/>
        </p:nvSpPr>
        <p:spPr>
          <a:xfrm>
            <a:off x="630936" y="3730752"/>
            <a:ext cx="5276088" cy="14721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public</a:t>
            </a:r>
            <a:r>
              <a:rPr lang="en-US" sz="1400" dirty="0">
                <a:solidFill>
                  <a:srgbClr val="FFFFFF"/>
                </a:solidFill>
                <a:latin typeface="Consolas" pitchFamily="34" charset="0"/>
                <a:ea typeface="Consolas" pitchFamily="34" charset="-122"/>
                <a:cs typeface="Consolas" pitchFamily="34" charset="-120"/>
              </a:rPr>
              <a:t> Task</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Result</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SaveDocumentResult</a:t>
            </a:r>
            <a:r>
              <a:rPr lang="en-US" sz="1400" dirty="0">
                <a:solidFill>
                  <a:srgbClr val="F8F8F2"/>
                </a:solidFill>
                <a:latin typeface="Consolas" pitchFamily="34" charset="0"/>
                <a:ea typeface="Consolas" pitchFamily="34" charset="-122"/>
                <a:cs typeface="Consolas" pitchFamily="34" charset="-120"/>
              </a:rPr>
              <a:t>&gt;&gt;</a:t>
            </a:r>
            <a:r>
              <a:rPr lang="en-US" sz="1400" dirty="0">
                <a:solidFill>
                  <a:srgbClr val="FFFFFF"/>
                </a:solidFill>
                <a:latin typeface="Consolas" pitchFamily="34" charset="0"/>
                <a:ea typeface="Consolas" pitchFamily="34" charset="-122"/>
                <a:cs typeface="Consolas" pitchFamily="34" charset="-120"/>
              </a:rPr>
              <a:t> Handle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SaveDocumentCommand request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CancellationToken 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var</a:t>
            </a:r>
            <a:r>
              <a:rPr lang="en-US" sz="1400" dirty="0">
                <a:solidFill>
                  <a:srgbClr val="FFFFFF"/>
                </a:solidFill>
                <a:latin typeface="Consolas" pitchFamily="34" charset="0"/>
                <a:ea typeface="Consolas" pitchFamily="34" charset="-122"/>
                <a:cs typeface="Consolas" pitchFamily="34" charset="-120"/>
              </a:rPr>
              <a:t> docxBytes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_converter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Convert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Task</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FromResult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Result</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SaveDocumentResult</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Success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280" dirty="0"/>
          </a:p>
        </p:txBody>
      </p:sp>
      <p:sp>
        <p:nvSpPr>
          <p:cNvPr id="31" name="Shape 29"/>
          <p:cNvSpPr/>
          <p:nvPr/>
        </p:nvSpPr>
        <p:spPr>
          <a:xfrm>
            <a:off x="6245352" y="3493008"/>
            <a:ext cx="5440680" cy="1783080"/>
          </a:xfrm>
          <a:prstGeom prst="roundRect">
            <a:avLst>
              <a:gd name="adj" fmla="val 4103"/>
            </a:avLst>
          </a:prstGeom>
          <a:solidFill>
            <a:srgbClr val="0B1220"/>
          </a:solidFill>
          <a:ln w="12700">
            <a:solidFill>
              <a:srgbClr val="F59E0B"/>
            </a:solidFill>
            <a:prstDash val="solid"/>
          </a:ln>
        </p:spPr>
        <p:txBody>
          <a:bodyPr/>
          <a:lstStyle/>
          <a:p>
            <a:endParaRPr lang="pl-PL"/>
          </a:p>
        </p:txBody>
      </p:sp>
      <p:sp>
        <p:nvSpPr>
          <p:cNvPr id="32" name="Text 30"/>
          <p:cNvSpPr/>
          <p:nvPr/>
        </p:nvSpPr>
        <p:spPr>
          <a:xfrm>
            <a:off x="6355080" y="3557016"/>
            <a:ext cx="5221224" cy="164592"/>
          </a:xfrm>
          <a:prstGeom prst="rect">
            <a:avLst/>
          </a:prstGeom>
          <a:noFill/>
          <a:ln/>
        </p:spPr>
        <p:txBody>
          <a:bodyPr wrap="square" lIns="0" tIns="0" rIns="0" bIns="0" rtlCol="0" anchor="ctr"/>
          <a:lstStyle/>
          <a:p>
            <a:pPr marL="0" indent="0">
              <a:buNone/>
            </a:pPr>
            <a:r>
              <a:rPr lang="en-US" sz="1100" b="1" dirty="0">
                <a:solidFill>
                  <a:srgbClr val="94A3B8"/>
                </a:solidFill>
              </a:rPr>
              <a:t>EditorToolbarComponent</a:t>
            </a:r>
            <a:endParaRPr lang="en-US" sz="1100" dirty="0"/>
          </a:p>
        </p:txBody>
      </p:sp>
      <p:sp>
        <p:nvSpPr>
          <p:cNvPr id="33" name="Text 31"/>
          <p:cNvSpPr/>
          <p:nvPr/>
        </p:nvSpPr>
        <p:spPr>
          <a:xfrm>
            <a:off x="6373368" y="3730752"/>
            <a:ext cx="5184648" cy="14721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@Output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command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new</a:t>
            </a:r>
            <a:r>
              <a:rPr lang="en-US" sz="1400" dirty="0">
                <a:solidFill>
                  <a:srgbClr val="FFFFFF"/>
                </a:solidFill>
                <a:latin typeface="Consolas" pitchFamily="34" charset="0"/>
                <a:ea typeface="Consolas" pitchFamily="34" charset="-122"/>
                <a:cs typeface="Consolas" pitchFamily="34" charset="-120"/>
              </a:rPr>
              <a:t> EventEmitter</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EditorCommand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value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string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executeCommand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cmd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EditorCommand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value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string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void</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emit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command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cmd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value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8F8F2"/>
                </a:solidFill>
                <a:latin typeface="Consolas" pitchFamily="34" charset="0"/>
                <a:ea typeface="Consolas" pitchFamily="34" charset="-122"/>
                <a:cs typeface="Consolas" pitchFamily="34" charset="-120"/>
              </a:rPr>
              <a:t>}</a:t>
            </a:r>
            <a:endParaRPr lang="en-US" sz="1280" dirty="0"/>
          </a:p>
        </p:txBody>
      </p:sp>
      <p:sp>
        <p:nvSpPr>
          <p:cNvPr id="34" name="Shape 32"/>
          <p:cNvSpPr/>
          <p:nvPr/>
        </p:nvSpPr>
        <p:spPr>
          <a:xfrm>
            <a:off x="502920" y="5806440"/>
            <a:ext cx="11185855" cy="658368"/>
          </a:xfrm>
          <a:prstGeom prst="roundRect">
            <a:avLst>
              <a:gd name="adj" fmla="val 11111"/>
            </a:avLst>
          </a:prstGeom>
          <a:solidFill>
            <a:srgbClr val="111827"/>
          </a:solidFill>
          <a:ln w="12700">
            <a:solidFill>
              <a:srgbClr val="F59E0B"/>
            </a:solidFill>
            <a:prstDash val="solid"/>
          </a:ln>
        </p:spPr>
        <p:txBody>
          <a:bodyPr/>
          <a:lstStyle/>
          <a:p>
            <a:endParaRPr lang="pl-PL"/>
          </a:p>
        </p:txBody>
      </p:sp>
      <p:sp>
        <p:nvSpPr>
          <p:cNvPr id="35" name="Text 33"/>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Toolbar już mówi językiem komend. Główny edytor nadal za często mówi językiem implementacji.</a:t>
            </a:r>
            <a:endParaRPr lang="en-US" sz="1800" dirty="0"/>
          </a:p>
        </p:txBody>
      </p:sp>
      <p:sp>
        <p:nvSpPr>
          <p:cNvPr id="36" name="Text 34"/>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6</a:t>
            </a:r>
            <a:endParaRPr lang="en-US" sz="1000" dirty="0"/>
          </a:p>
        </p:txBody>
      </p:sp>
      <p:sp>
        <p:nvSpPr>
          <p:cNvPr id="37" name="Text 35"/>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Docelowy wzorzec: serwis decyduje, komponent renderuje</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417320"/>
            <a:ext cx="6400800" cy="1463040"/>
          </a:xfrm>
          <a:prstGeom prst="roundRect">
            <a:avLst>
              <a:gd name="adj" fmla="val 5000"/>
            </a:avLst>
          </a:prstGeom>
          <a:solidFill>
            <a:srgbClr val="0B1220"/>
          </a:solidFill>
          <a:ln w="12700">
            <a:solidFill>
              <a:srgbClr val="22D3EE"/>
            </a:solidFill>
            <a:prstDash val="solid"/>
          </a:ln>
        </p:spPr>
        <p:txBody>
          <a:bodyPr/>
          <a:lstStyle/>
          <a:p>
            <a:endParaRPr lang="pl-PL"/>
          </a:p>
        </p:txBody>
      </p:sp>
      <p:sp>
        <p:nvSpPr>
          <p:cNvPr id="5" name="Text 3"/>
          <p:cNvSpPr/>
          <p:nvPr/>
        </p:nvSpPr>
        <p:spPr>
          <a:xfrm>
            <a:off x="612648" y="1481328"/>
            <a:ext cx="6181344" cy="164592"/>
          </a:xfrm>
          <a:prstGeom prst="rect">
            <a:avLst/>
          </a:prstGeom>
          <a:noFill/>
          <a:ln/>
        </p:spPr>
        <p:txBody>
          <a:bodyPr wrap="square" lIns="0" tIns="0" rIns="0" bIns="0" rtlCol="0" anchor="ctr"/>
          <a:lstStyle/>
          <a:p>
            <a:pPr marL="0" indent="0">
              <a:buNone/>
            </a:pPr>
            <a:r>
              <a:rPr lang="en-US" sz="1100" b="1" dirty="0">
                <a:solidFill>
                  <a:srgbClr val="94A3B8"/>
                </a:solidFill>
              </a:rPr>
              <a:t>ConnectionStatusService</a:t>
            </a:r>
            <a:endParaRPr lang="en-US" sz="1100" dirty="0"/>
          </a:p>
        </p:txBody>
      </p:sp>
      <p:sp>
        <p:nvSpPr>
          <p:cNvPr id="6" name="Text 4"/>
          <p:cNvSpPr/>
          <p:nvPr/>
        </p:nvSpPr>
        <p:spPr>
          <a:xfrm>
            <a:off x="630936" y="1655064"/>
            <a:ext cx="6144768" cy="115214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isOffline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computed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_browserOffline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_apiUnreachable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&amp;&amp;</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_dismissed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endParaRPr lang="en-US" sz="1500" dirty="0"/>
          </a:p>
        </p:txBody>
      </p:sp>
      <p:sp>
        <p:nvSpPr>
          <p:cNvPr id="7" name="Shape 5"/>
          <p:cNvSpPr/>
          <p:nvPr/>
        </p:nvSpPr>
        <p:spPr>
          <a:xfrm>
            <a:off x="502920" y="3154680"/>
            <a:ext cx="6400800" cy="1325880"/>
          </a:xfrm>
          <a:prstGeom prst="roundRect">
            <a:avLst>
              <a:gd name="adj" fmla="val 5517"/>
            </a:avLst>
          </a:prstGeom>
          <a:solidFill>
            <a:srgbClr val="0B1220"/>
          </a:solidFill>
          <a:ln w="12700">
            <a:solidFill>
              <a:srgbClr val="3B82F6"/>
            </a:solidFill>
            <a:prstDash val="solid"/>
          </a:ln>
        </p:spPr>
        <p:txBody>
          <a:bodyPr/>
          <a:lstStyle/>
          <a:p>
            <a:endParaRPr lang="pl-PL"/>
          </a:p>
        </p:txBody>
      </p:sp>
      <p:sp>
        <p:nvSpPr>
          <p:cNvPr id="8" name="Text 6"/>
          <p:cNvSpPr/>
          <p:nvPr/>
        </p:nvSpPr>
        <p:spPr>
          <a:xfrm>
            <a:off x="612648" y="3218688"/>
            <a:ext cx="6181344" cy="164592"/>
          </a:xfrm>
          <a:prstGeom prst="rect">
            <a:avLst/>
          </a:prstGeom>
          <a:noFill/>
          <a:ln/>
        </p:spPr>
        <p:txBody>
          <a:bodyPr wrap="square" lIns="0" tIns="0" rIns="0" bIns="0" rtlCol="0" anchor="ctr"/>
          <a:lstStyle/>
          <a:p>
            <a:pPr marL="0" indent="0">
              <a:buNone/>
            </a:pPr>
            <a:r>
              <a:rPr lang="en-US" sz="1100" b="1" dirty="0">
                <a:solidFill>
                  <a:srgbClr val="94A3B8"/>
                </a:solidFill>
              </a:rPr>
              <a:t>OfflineBannerComponent</a:t>
            </a:r>
            <a:endParaRPr lang="en-US" sz="1100" dirty="0"/>
          </a:p>
        </p:txBody>
      </p:sp>
      <p:sp>
        <p:nvSpPr>
          <p:cNvPr id="9" name="Text 7"/>
          <p:cNvSpPr/>
          <p:nvPr/>
        </p:nvSpPr>
        <p:spPr>
          <a:xfrm>
            <a:off x="630936" y="3392424"/>
            <a:ext cx="6144768" cy="10149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export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class</a:t>
            </a:r>
            <a:r>
              <a:rPr lang="en-US" sz="1400" dirty="0">
                <a:solidFill>
                  <a:srgbClr val="FFFFFF"/>
                </a:solidFill>
                <a:latin typeface="Consolas" pitchFamily="34" charset="0"/>
                <a:ea typeface="Consolas" pitchFamily="34" charset="-122"/>
                <a:cs typeface="Consolas" pitchFamily="34" charset="-120"/>
              </a:rPr>
              <a:t> OfflineBannerComponent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readonly</a:t>
            </a:r>
            <a:r>
              <a:rPr lang="en-US" sz="1400" dirty="0">
                <a:solidFill>
                  <a:srgbClr val="FFFFFF"/>
                </a:solidFill>
                <a:latin typeface="Consolas" pitchFamily="34" charset="0"/>
                <a:ea typeface="Consolas" pitchFamily="34" charset="-122"/>
                <a:cs typeface="Consolas" pitchFamily="34" charset="-120"/>
              </a:rPr>
              <a:t> connectionStatus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inject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ConnectionStatusService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endParaRPr lang="en-US" sz="1500" dirty="0"/>
          </a:p>
        </p:txBody>
      </p:sp>
      <p:sp>
        <p:nvSpPr>
          <p:cNvPr id="10" name="Shape 8"/>
          <p:cNvSpPr/>
          <p:nvPr/>
        </p:nvSpPr>
        <p:spPr>
          <a:xfrm>
            <a:off x="7360920" y="1417320"/>
            <a:ext cx="4297680" cy="3383280"/>
          </a:xfrm>
          <a:prstGeom prst="roundRect">
            <a:avLst>
              <a:gd name="adj" fmla="val 2162"/>
            </a:avLst>
          </a:prstGeom>
          <a:solidFill>
            <a:srgbClr val="172033"/>
          </a:solidFill>
          <a:ln w="12700">
            <a:solidFill>
              <a:srgbClr val="10B981"/>
            </a:solidFill>
            <a:prstDash val="solid"/>
          </a:ln>
        </p:spPr>
        <p:txBody>
          <a:bodyPr/>
          <a:lstStyle/>
          <a:p>
            <a:endParaRPr lang="pl-PL"/>
          </a:p>
        </p:txBody>
      </p:sp>
      <p:sp>
        <p:nvSpPr>
          <p:cNvPr id="11" name="Text 9"/>
          <p:cNvSpPr/>
          <p:nvPr/>
        </p:nvSpPr>
        <p:spPr>
          <a:xfrm>
            <a:off x="7516368" y="1645920"/>
            <a:ext cx="1097280" cy="182880"/>
          </a:xfrm>
          <a:prstGeom prst="rect">
            <a:avLst/>
          </a:prstGeom>
          <a:noFill/>
          <a:ln/>
        </p:spPr>
        <p:txBody>
          <a:bodyPr wrap="square" lIns="0" tIns="0" rIns="0" bIns="0" rtlCol="0" anchor="ctr"/>
          <a:lstStyle/>
          <a:p>
            <a:pPr marL="0" indent="0">
              <a:buNone/>
            </a:pPr>
            <a:r>
              <a:rPr lang="en-US" sz="2000" b="1" dirty="0">
                <a:solidFill>
                  <a:srgbClr val="10B981"/>
                </a:solidFill>
              </a:rPr>
              <a:t>Wzorzec</a:t>
            </a:r>
            <a:endParaRPr lang="en-US" sz="2000" dirty="0"/>
          </a:p>
        </p:txBody>
      </p:sp>
      <p:sp>
        <p:nvSpPr>
          <p:cNvPr id="12" name="Text 10"/>
          <p:cNvSpPr/>
          <p:nvPr/>
        </p:nvSpPr>
        <p:spPr>
          <a:xfrm>
            <a:off x="7498080" y="2057400"/>
            <a:ext cx="164592" cy="182880"/>
          </a:xfrm>
          <a:prstGeom prst="rect">
            <a:avLst/>
          </a:prstGeom>
          <a:noFill/>
          <a:ln/>
        </p:spPr>
        <p:txBody>
          <a:bodyPr wrap="square" lIns="0" tIns="0" rIns="0" bIns="0" rtlCol="0" anchor="ctr"/>
          <a:lstStyle/>
          <a:p>
            <a:pPr marL="0" indent="0">
              <a:buNone/>
            </a:pPr>
            <a:r>
              <a:rPr lang="en-US" sz="1900" b="1" dirty="0">
                <a:solidFill>
                  <a:srgbClr val="10B981"/>
                </a:solidFill>
              </a:rPr>
              <a:t>•</a:t>
            </a:r>
            <a:endParaRPr lang="en-US" sz="1900" dirty="0"/>
          </a:p>
        </p:txBody>
      </p:sp>
      <p:sp>
        <p:nvSpPr>
          <p:cNvPr id="13" name="Text 11"/>
          <p:cNvSpPr/>
          <p:nvPr/>
        </p:nvSpPr>
        <p:spPr>
          <a:xfrm>
            <a:off x="7699248" y="2048256"/>
            <a:ext cx="3639312" cy="219456"/>
          </a:xfrm>
          <a:prstGeom prst="rect">
            <a:avLst/>
          </a:prstGeom>
          <a:noFill/>
          <a:ln/>
        </p:spPr>
        <p:txBody>
          <a:bodyPr wrap="square" lIns="0" tIns="0" rIns="0" bIns="0" rtlCol="0" anchor="ctr"/>
          <a:lstStyle/>
          <a:p>
            <a:pPr marL="0" indent="0">
              <a:buNone/>
            </a:pPr>
            <a:r>
              <a:rPr lang="en-US" sz="1900" dirty="0">
                <a:solidFill>
                  <a:srgbClr val="E5E7EB"/>
                </a:solidFill>
              </a:rPr>
              <a:t>serwis ma prywatne źródła prawdy</a:t>
            </a:r>
            <a:endParaRPr lang="en-US" sz="1900" dirty="0"/>
          </a:p>
        </p:txBody>
      </p:sp>
      <p:sp>
        <p:nvSpPr>
          <p:cNvPr id="14" name="Text 12"/>
          <p:cNvSpPr/>
          <p:nvPr/>
        </p:nvSpPr>
        <p:spPr>
          <a:xfrm>
            <a:off x="7498080" y="2514600"/>
            <a:ext cx="164592" cy="182880"/>
          </a:xfrm>
          <a:prstGeom prst="rect">
            <a:avLst/>
          </a:prstGeom>
          <a:noFill/>
          <a:ln/>
        </p:spPr>
        <p:txBody>
          <a:bodyPr wrap="square" lIns="0" tIns="0" rIns="0" bIns="0" rtlCol="0" anchor="ctr"/>
          <a:lstStyle/>
          <a:p>
            <a:pPr marL="0" indent="0">
              <a:buNone/>
            </a:pPr>
            <a:r>
              <a:rPr lang="en-US" sz="1900" b="1" dirty="0">
                <a:solidFill>
                  <a:srgbClr val="10B981"/>
                </a:solidFill>
              </a:rPr>
              <a:t>•</a:t>
            </a:r>
            <a:endParaRPr lang="en-US" sz="1900" dirty="0"/>
          </a:p>
        </p:txBody>
      </p:sp>
      <p:sp>
        <p:nvSpPr>
          <p:cNvPr id="15" name="Text 13"/>
          <p:cNvSpPr/>
          <p:nvPr/>
        </p:nvSpPr>
        <p:spPr>
          <a:xfrm>
            <a:off x="7699248" y="2505456"/>
            <a:ext cx="3639312" cy="219456"/>
          </a:xfrm>
          <a:prstGeom prst="rect">
            <a:avLst/>
          </a:prstGeom>
          <a:noFill/>
          <a:ln/>
        </p:spPr>
        <p:txBody>
          <a:bodyPr wrap="square" lIns="0" tIns="0" rIns="0" bIns="0" rtlCol="0" anchor="ctr"/>
          <a:lstStyle/>
          <a:p>
            <a:pPr marL="0" indent="0">
              <a:buNone/>
            </a:pPr>
            <a:r>
              <a:rPr lang="en-US" sz="1900" dirty="0">
                <a:solidFill>
                  <a:srgbClr val="E5E7EB"/>
                </a:solidFill>
              </a:rPr>
              <a:t>serwis wylicza gotową odpowiedź</a:t>
            </a:r>
            <a:endParaRPr lang="en-US" sz="1900" dirty="0"/>
          </a:p>
        </p:txBody>
      </p:sp>
      <p:sp>
        <p:nvSpPr>
          <p:cNvPr id="16" name="Text 14"/>
          <p:cNvSpPr/>
          <p:nvPr/>
        </p:nvSpPr>
        <p:spPr>
          <a:xfrm>
            <a:off x="7498080" y="2971800"/>
            <a:ext cx="164592" cy="182880"/>
          </a:xfrm>
          <a:prstGeom prst="rect">
            <a:avLst/>
          </a:prstGeom>
          <a:noFill/>
          <a:ln/>
        </p:spPr>
        <p:txBody>
          <a:bodyPr wrap="square" lIns="0" tIns="0" rIns="0" bIns="0" rtlCol="0" anchor="ctr"/>
          <a:lstStyle/>
          <a:p>
            <a:pPr marL="0" indent="0">
              <a:buNone/>
            </a:pPr>
            <a:r>
              <a:rPr lang="en-US" sz="1900" b="1" dirty="0">
                <a:solidFill>
                  <a:srgbClr val="10B981"/>
                </a:solidFill>
              </a:rPr>
              <a:t>•</a:t>
            </a:r>
            <a:endParaRPr lang="en-US" sz="1900" dirty="0"/>
          </a:p>
        </p:txBody>
      </p:sp>
      <p:sp>
        <p:nvSpPr>
          <p:cNvPr id="17" name="Text 15"/>
          <p:cNvSpPr/>
          <p:nvPr/>
        </p:nvSpPr>
        <p:spPr>
          <a:xfrm>
            <a:off x="7699248" y="2962656"/>
            <a:ext cx="3639312" cy="219456"/>
          </a:xfrm>
          <a:prstGeom prst="rect">
            <a:avLst/>
          </a:prstGeom>
          <a:noFill/>
          <a:ln/>
        </p:spPr>
        <p:txBody>
          <a:bodyPr wrap="square" lIns="0" tIns="0" rIns="0" bIns="0" rtlCol="0" anchor="ctr"/>
          <a:lstStyle/>
          <a:p>
            <a:pPr marL="0" indent="0">
              <a:buNone/>
            </a:pPr>
            <a:r>
              <a:rPr lang="en-US" sz="1900" dirty="0">
                <a:solidFill>
                  <a:srgbClr val="E5E7EB"/>
                </a:solidFill>
              </a:rPr>
              <a:t>komponent niczego nie rozstrzyga</a:t>
            </a:r>
            <a:endParaRPr lang="en-US" sz="1900" dirty="0"/>
          </a:p>
        </p:txBody>
      </p:sp>
      <p:sp>
        <p:nvSpPr>
          <p:cNvPr id="18" name="Text 16"/>
          <p:cNvSpPr/>
          <p:nvPr/>
        </p:nvSpPr>
        <p:spPr>
          <a:xfrm>
            <a:off x="7498080" y="3429000"/>
            <a:ext cx="164592" cy="182880"/>
          </a:xfrm>
          <a:prstGeom prst="rect">
            <a:avLst/>
          </a:prstGeom>
          <a:noFill/>
          <a:ln/>
        </p:spPr>
        <p:txBody>
          <a:bodyPr wrap="square" lIns="0" tIns="0" rIns="0" bIns="0" rtlCol="0" anchor="ctr"/>
          <a:lstStyle/>
          <a:p>
            <a:pPr marL="0" indent="0">
              <a:buNone/>
            </a:pPr>
            <a:r>
              <a:rPr lang="en-US" sz="1900" b="1" dirty="0">
                <a:solidFill>
                  <a:srgbClr val="10B981"/>
                </a:solidFill>
              </a:rPr>
              <a:t>•</a:t>
            </a:r>
            <a:endParaRPr lang="en-US" sz="1900" dirty="0"/>
          </a:p>
        </p:txBody>
      </p:sp>
      <p:sp>
        <p:nvSpPr>
          <p:cNvPr id="19" name="Text 17"/>
          <p:cNvSpPr/>
          <p:nvPr/>
        </p:nvSpPr>
        <p:spPr>
          <a:xfrm>
            <a:off x="7699248" y="3419856"/>
            <a:ext cx="3639312" cy="219456"/>
          </a:xfrm>
          <a:prstGeom prst="rect">
            <a:avLst/>
          </a:prstGeom>
          <a:noFill/>
          <a:ln/>
        </p:spPr>
        <p:txBody>
          <a:bodyPr wrap="square" lIns="0" tIns="0" rIns="0" bIns="0" rtlCol="0" anchor="ctr"/>
          <a:lstStyle/>
          <a:p>
            <a:pPr marL="0" indent="0">
              <a:buNone/>
            </a:pPr>
            <a:r>
              <a:rPr lang="en-US" sz="1900" dirty="0">
                <a:solidFill>
                  <a:srgbClr val="E5E7EB"/>
                </a:solidFill>
              </a:rPr>
              <a:t>UI tylko renderuje projekcję</a:t>
            </a:r>
            <a:endParaRPr lang="en-US" sz="1900" dirty="0"/>
          </a:p>
        </p:txBody>
      </p:sp>
      <p:sp>
        <p:nvSpPr>
          <p:cNvPr id="20" name="Shape 18"/>
          <p:cNvSpPr/>
          <p:nvPr/>
        </p:nvSpPr>
        <p:spPr>
          <a:xfrm>
            <a:off x="502920" y="5806440"/>
            <a:ext cx="11185855" cy="658368"/>
          </a:xfrm>
          <a:prstGeom prst="roundRect">
            <a:avLst>
              <a:gd name="adj" fmla="val 11111"/>
            </a:avLst>
          </a:prstGeom>
          <a:solidFill>
            <a:srgbClr val="111827"/>
          </a:solidFill>
          <a:ln w="12700">
            <a:solidFill>
              <a:srgbClr val="10B981"/>
            </a:solidFill>
            <a:prstDash val="solid"/>
          </a:ln>
        </p:spPr>
        <p:txBody>
          <a:bodyPr/>
          <a:lstStyle/>
          <a:p>
            <a:endParaRPr lang="pl-PL"/>
          </a:p>
        </p:txBody>
      </p:sp>
      <p:sp>
        <p:nvSpPr>
          <p:cNvPr id="21" name="Text 19"/>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ConnectionStatusService podejmuje decyzję. OfflineBannerComponent tylko ją pokazuje.</a:t>
            </a:r>
            <a:endParaRPr lang="en-US" sz="1800" dirty="0"/>
          </a:p>
        </p:txBody>
      </p:sp>
      <p:sp>
        <p:nvSpPr>
          <p:cNvPr id="22" name="Text 20"/>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7</a:t>
            </a:r>
            <a:endParaRPr lang="en-US" sz="1000" dirty="0"/>
          </a:p>
        </p:txBody>
      </p:sp>
      <p:sp>
        <p:nvSpPr>
          <p:cNvPr id="23" name="Text 21"/>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Signals i RxJS — podział odpowiedzialności</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70432"/>
            <a:ext cx="3840480" cy="1828800"/>
          </a:xfrm>
          <a:prstGeom prst="roundRect">
            <a:avLst>
              <a:gd name="adj" fmla="val 4000"/>
            </a:avLst>
          </a:prstGeom>
          <a:solidFill>
            <a:srgbClr val="172033"/>
          </a:solidFill>
          <a:ln w="12700">
            <a:solidFill>
              <a:srgbClr val="3B82F6"/>
            </a:solidFill>
            <a:prstDash val="solid"/>
          </a:ln>
        </p:spPr>
        <p:txBody>
          <a:bodyPr/>
          <a:lstStyle/>
          <a:p>
            <a:endParaRPr lang="pl-PL"/>
          </a:p>
        </p:txBody>
      </p:sp>
      <p:sp>
        <p:nvSpPr>
          <p:cNvPr id="5" name="Shape 3"/>
          <p:cNvSpPr/>
          <p:nvPr/>
        </p:nvSpPr>
        <p:spPr>
          <a:xfrm>
            <a:off x="4370832" y="1170432"/>
            <a:ext cx="3840480" cy="1828800"/>
          </a:xfrm>
          <a:prstGeom prst="roundRect">
            <a:avLst>
              <a:gd name="adj" fmla="val 4000"/>
            </a:avLst>
          </a:prstGeom>
          <a:solidFill>
            <a:srgbClr val="172033"/>
          </a:solidFill>
          <a:ln w="12700">
            <a:solidFill>
              <a:srgbClr val="22D3EE"/>
            </a:solidFill>
            <a:prstDash val="solid"/>
          </a:ln>
        </p:spPr>
        <p:txBody>
          <a:bodyPr/>
          <a:lstStyle/>
          <a:p>
            <a:endParaRPr lang="pl-PL"/>
          </a:p>
        </p:txBody>
      </p:sp>
      <p:sp>
        <p:nvSpPr>
          <p:cNvPr id="6" name="Shape 4"/>
          <p:cNvSpPr/>
          <p:nvPr/>
        </p:nvSpPr>
        <p:spPr>
          <a:xfrm>
            <a:off x="8238744" y="1170432"/>
            <a:ext cx="3447288" cy="1828800"/>
          </a:xfrm>
          <a:prstGeom prst="roundRect">
            <a:avLst>
              <a:gd name="adj" fmla="val 4000"/>
            </a:avLst>
          </a:prstGeom>
          <a:solidFill>
            <a:srgbClr val="172033"/>
          </a:solidFill>
          <a:ln w="12700">
            <a:solidFill>
              <a:srgbClr val="334155"/>
            </a:solidFill>
            <a:prstDash val="solid"/>
          </a:ln>
        </p:spPr>
        <p:txBody>
          <a:bodyPr/>
          <a:lstStyle/>
          <a:p>
            <a:endParaRPr lang="pl-PL"/>
          </a:p>
        </p:txBody>
      </p:sp>
      <p:sp>
        <p:nvSpPr>
          <p:cNvPr id="7" name="Text 5"/>
          <p:cNvSpPr/>
          <p:nvPr/>
        </p:nvSpPr>
        <p:spPr>
          <a:xfrm>
            <a:off x="667512" y="1353312"/>
            <a:ext cx="1463040" cy="182880"/>
          </a:xfrm>
          <a:prstGeom prst="rect">
            <a:avLst/>
          </a:prstGeom>
          <a:noFill/>
          <a:ln/>
        </p:spPr>
        <p:txBody>
          <a:bodyPr wrap="square" lIns="0" tIns="0" rIns="0" bIns="0" rtlCol="0" anchor="ctr"/>
          <a:lstStyle/>
          <a:p>
            <a:pPr marL="0" indent="0">
              <a:buNone/>
            </a:pPr>
            <a:r>
              <a:rPr lang="en-US" sz="2200" b="1" dirty="0">
                <a:solidFill>
                  <a:srgbClr val="3B82F6"/>
                </a:solidFill>
              </a:rPr>
              <a:t>Signals</a:t>
            </a:r>
            <a:endParaRPr lang="en-US" sz="2200" dirty="0"/>
          </a:p>
        </p:txBody>
      </p:sp>
      <p:sp>
        <p:nvSpPr>
          <p:cNvPr id="8" name="Text 6"/>
          <p:cNvSpPr/>
          <p:nvPr/>
        </p:nvSpPr>
        <p:spPr>
          <a:xfrm>
            <a:off x="594360" y="1719072"/>
            <a:ext cx="164592" cy="182880"/>
          </a:xfrm>
          <a:prstGeom prst="rect">
            <a:avLst/>
          </a:prstGeom>
          <a:noFill/>
          <a:ln/>
        </p:spPr>
        <p:txBody>
          <a:bodyPr wrap="square" lIns="0" tIns="0" rIns="0" bIns="0" rtlCol="0" anchor="ctr"/>
          <a:lstStyle/>
          <a:p>
            <a:pPr marL="0" indent="0">
              <a:buNone/>
            </a:pPr>
            <a:r>
              <a:rPr lang="en-US" sz="1800" b="1" dirty="0">
                <a:solidFill>
                  <a:srgbClr val="3B82F6"/>
                </a:solidFill>
              </a:rPr>
              <a:t>•</a:t>
            </a:r>
            <a:endParaRPr lang="en-US" sz="1800" dirty="0"/>
          </a:p>
        </p:txBody>
      </p:sp>
      <p:sp>
        <p:nvSpPr>
          <p:cNvPr id="9" name="Text 7"/>
          <p:cNvSpPr/>
          <p:nvPr/>
        </p:nvSpPr>
        <p:spPr>
          <a:xfrm>
            <a:off x="795528" y="1709928"/>
            <a:ext cx="3090672" cy="219456"/>
          </a:xfrm>
          <a:prstGeom prst="rect">
            <a:avLst/>
          </a:prstGeom>
          <a:noFill/>
          <a:ln/>
        </p:spPr>
        <p:txBody>
          <a:bodyPr wrap="square" lIns="0" tIns="0" rIns="0" bIns="0" rtlCol="0" anchor="ctr"/>
          <a:lstStyle/>
          <a:p>
            <a:pPr marL="0" indent="0">
              <a:buNone/>
            </a:pPr>
            <a:r>
              <a:rPr lang="en-US" sz="1800" dirty="0">
                <a:solidFill>
                  <a:srgbClr val="E5E7EB"/>
                </a:solidFill>
              </a:rPr>
              <a:t>local state</a:t>
            </a:r>
            <a:endParaRPr lang="en-US" sz="1800" dirty="0"/>
          </a:p>
        </p:txBody>
      </p:sp>
      <p:sp>
        <p:nvSpPr>
          <p:cNvPr id="10" name="Text 8"/>
          <p:cNvSpPr/>
          <p:nvPr/>
        </p:nvSpPr>
        <p:spPr>
          <a:xfrm>
            <a:off x="594360" y="2039112"/>
            <a:ext cx="164592" cy="182880"/>
          </a:xfrm>
          <a:prstGeom prst="rect">
            <a:avLst/>
          </a:prstGeom>
          <a:noFill/>
          <a:ln/>
        </p:spPr>
        <p:txBody>
          <a:bodyPr wrap="square" lIns="0" tIns="0" rIns="0" bIns="0" rtlCol="0" anchor="ctr"/>
          <a:lstStyle/>
          <a:p>
            <a:pPr marL="0" indent="0">
              <a:buNone/>
            </a:pPr>
            <a:r>
              <a:rPr lang="en-US" sz="1800" b="1" dirty="0">
                <a:solidFill>
                  <a:srgbClr val="3B82F6"/>
                </a:solidFill>
              </a:rPr>
              <a:t>•</a:t>
            </a:r>
            <a:endParaRPr lang="en-US" sz="1800" dirty="0"/>
          </a:p>
        </p:txBody>
      </p:sp>
      <p:sp>
        <p:nvSpPr>
          <p:cNvPr id="11" name="Text 9"/>
          <p:cNvSpPr/>
          <p:nvPr/>
        </p:nvSpPr>
        <p:spPr>
          <a:xfrm>
            <a:off x="795528" y="2029968"/>
            <a:ext cx="3090672" cy="219456"/>
          </a:xfrm>
          <a:prstGeom prst="rect">
            <a:avLst/>
          </a:prstGeom>
          <a:noFill/>
          <a:ln/>
        </p:spPr>
        <p:txBody>
          <a:bodyPr wrap="square" lIns="0" tIns="0" rIns="0" bIns="0" rtlCol="0" anchor="ctr"/>
          <a:lstStyle/>
          <a:p>
            <a:pPr marL="0" indent="0">
              <a:buNone/>
            </a:pPr>
            <a:r>
              <a:rPr lang="en-US" sz="1800" dirty="0">
                <a:solidFill>
                  <a:srgbClr val="E5E7EB"/>
                </a:solidFill>
              </a:rPr>
              <a:t>derived state</a:t>
            </a:r>
            <a:endParaRPr lang="en-US" sz="1800" dirty="0"/>
          </a:p>
        </p:txBody>
      </p:sp>
      <p:sp>
        <p:nvSpPr>
          <p:cNvPr id="12" name="Text 10"/>
          <p:cNvSpPr/>
          <p:nvPr/>
        </p:nvSpPr>
        <p:spPr>
          <a:xfrm>
            <a:off x="594360" y="2359152"/>
            <a:ext cx="164592" cy="182880"/>
          </a:xfrm>
          <a:prstGeom prst="rect">
            <a:avLst/>
          </a:prstGeom>
          <a:noFill/>
          <a:ln/>
        </p:spPr>
        <p:txBody>
          <a:bodyPr wrap="square" lIns="0" tIns="0" rIns="0" bIns="0" rtlCol="0" anchor="ctr"/>
          <a:lstStyle/>
          <a:p>
            <a:pPr marL="0" indent="0">
              <a:buNone/>
            </a:pPr>
            <a:r>
              <a:rPr lang="en-US" sz="1800" b="1" dirty="0">
                <a:solidFill>
                  <a:srgbClr val="3B82F6"/>
                </a:solidFill>
              </a:rPr>
              <a:t>•</a:t>
            </a:r>
            <a:endParaRPr lang="en-US" sz="1800" dirty="0"/>
          </a:p>
        </p:txBody>
      </p:sp>
      <p:sp>
        <p:nvSpPr>
          <p:cNvPr id="13" name="Text 11"/>
          <p:cNvSpPr/>
          <p:nvPr/>
        </p:nvSpPr>
        <p:spPr>
          <a:xfrm>
            <a:off x="795528" y="2350008"/>
            <a:ext cx="3090672" cy="219456"/>
          </a:xfrm>
          <a:prstGeom prst="rect">
            <a:avLst/>
          </a:prstGeom>
          <a:noFill/>
          <a:ln/>
        </p:spPr>
        <p:txBody>
          <a:bodyPr wrap="square" lIns="0" tIns="0" rIns="0" bIns="0" rtlCol="0" anchor="ctr"/>
          <a:lstStyle/>
          <a:p>
            <a:pPr marL="0" indent="0">
              <a:buNone/>
            </a:pPr>
            <a:r>
              <a:rPr lang="en-US" sz="1800" dirty="0">
                <a:solidFill>
                  <a:srgbClr val="E5E7EB"/>
                </a:solidFill>
              </a:rPr>
              <a:t>projection</a:t>
            </a:r>
            <a:endParaRPr lang="en-US" sz="1800" dirty="0"/>
          </a:p>
        </p:txBody>
      </p:sp>
      <p:sp>
        <p:nvSpPr>
          <p:cNvPr id="14" name="Text 12"/>
          <p:cNvSpPr/>
          <p:nvPr/>
        </p:nvSpPr>
        <p:spPr>
          <a:xfrm>
            <a:off x="4535424" y="1353312"/>
            <a:ext cx="1463040" cy="182880"/>
          </a:xfrm>
          <a:prstGeom prst="rect">
            <a:avLst/>
          </a:prstGeom>
          <a:noFill/>
          <a:ln/>
        </p:spPr>
        <p:txBody>
          <a:bodyPr wrap="square" lIns="0" tIns="0" rIns="0" bIns="0" rtlCol="0" anchor="ctr"/>
          <a:lstStyle/>
          <a:p>
            <a:pPr marL="0" indent="0">
              <a:buNone/>
            </a:pPr>
            <a:r>
              <a:rPr lang="en-US" sz="2200" b="1" dirty="0">
                <a:solidFill>
                  <a:srgbClr val="22D3EE"/>
                </a:solidFill>
              </a:rPr>
              <a:t>RxJS</a:t>
            </a:r>
            <a:endParaRPr lang="en-US" sz="2200" dirty="0"/>
          </a:p>
        </p:txBody>
      </p:sp>
      <p:sp>
        <p:nvSpPr>
          <p:cNvPr id="15" name="Text 13"/>
          <p:cNvSpPr/>
          <p:nvPr/>
        </p:nvSpPr>
        <p:spPr>
          <a:xfrm>
            <a:off x="4462272" y="1719072"/>
            <a:ext cx="164592" cy="182880"/>
          </a:xfrm>
          <a:prstGeom prst="rect">
            <a:avLst/>
          </a:prstGeom>
          <a:noFill/>
          <a:ln/>
        </p:spPr>
        <p:txBody>
          <a:bodyPr wrap="square" lIns="0" tIns="0" rIns="0" bIns="0" rtlCol="0" anchor="ctr"/>
          <a:lstStyle/>
          <a:p>
            <a:pPr marL="0" indent="0">
              <a:buNone/>
            </a:pPr>
            <a:r>
              <a:rPr lang="en-US" sz="1800" b="1" dirty="0">
                <a:solidFill>
                  <a:srgbClr val="22D3EE"/>
                </a:solidFill>
              </a:rPr>
              <a:t>•</a:t>
            </a:r>
            <a:endParaRPr lang="en-US" sz="1800" dirty="0"/>
          </a:p>
        </p:txBody>
      </p:sp>
      <p:sp>
        <p:nvSpPr>
          <p:cNvPr id="16" name="Text 14"/>
          <p:cNvSpPr/>
          <p:nvPr/>
        </p:nvSpPr>
        <p:spPr>
          <a:xfrm>
            <a:off x="4663440" y="1709928"/>
            <a:ext cx="3090672" cy="219456"/>
          </a:xfrm>
          <a:prstGeom prst="rect">
            <a:avLst/>
          </a:prstGeom>
          <a:noFill/>
          <a:ln/>
        </p:spPr>
        <p:txBody>
          <a:bodyPr wrap="square" lIns="0" tIns="0" rIns="0" bIns="0" rtlCol="0" anchor="ctr"/>
          <a:lstStyle/>
          <a:p>
            <a:pPr marL="0" indent="0">
              <a:buNone/>
            </a:pPr>
            <a:r>
              <a:rPr lang="en-US" sz="1800" dirty="0">
                <a:solidFill>
                  <a:srgbClr val="E5E7EB"/>
                </a:solidFill>
              </a:rPr>
              <a:t>async workflows</a:t>
            </a:r>
            <a:endParaRPr lang="en-US" sz="1800" dirty="0"/>
          </a:p>
        </p:txBody>
      </p:sp>
      <p:sp>
        <p:nvSpPr>
          <p:cNvPr id="17" name="Text 15"/>
          <p:cNvSpPr/>
          <p:nvPr/>
        </p:nvSpPr>
        <p:spPr>
          <a:xfrm>
            <a:off x="4462272" y="2039112"/>
            <a:ext cx="164592" cy="182880"/>
          </a:xfrm>
          <a:prstGeom prst="rect">
            <a:avLst/>
          </a:prstGeom>
          <a:noFill/>
          <a:ln/>
        </p:spPr>
        <p:txBody>
          <a:bodyPr wrap="square" lIns="0" tIns="0" rIns="0" bIns="0" rtlCol="0" anchor="ctr"/>
          <a:lstStyle/>
          <a:p>
            <a:pPr marL="0" indent="0">
              <a:buNone/>
            </a:pPr>
            <a:r>
              <a:rPr lang="en-US" sz="1800" b="1" dirty="0">
                <a:solidFill>
                  <a:srgbClr val="22D3EE"/>
                </a:solidFill>
              </a:rPr>
              <a:t>•</a:t>
            </a:r>
            <a:endParaRPr lang="en-US" sz="1800" dirty="0"/>
          </a:p>
        </p:txBody>
      </p:sp>
      <p:sp>
        <p:nvSpPr>
          <p:cNvPr id="18" name="Text 16"/>
          <p:cNvSpPr/>
          <p:nvPr/>
        </p:nvSpPr>
        <p:spPr>
          <a:xfrm>
            <a:off x="4663440" y="2029968"/>
            <a:ext cx="3090672" cy="219456"/>
          </a:xfrm>
          <a:prstGeom prst="rect">
            <a:avLst/>
          </a:prstGeom>
          <a:noFill/>
          <a:ln/>
        </p:spPr>
        <p:txBody>
          <a:bodyPr wrap="square" lIns="0" tIns="0" rIns="0" bIns="0" rtlCol="0" anchor="ctr"/>
          <a:lstStyle/>
          <a:p>
            <a:pPr marL="0" indent="0">
              <a:buNone/>
            </a:pPr>
            <a:r>
              <a:rPr lang="en-US" sz="1800" dirty="0">
                <a:solidFill>
                  <a:srgbClr val="E5E7EB"/>
                </a:solidFill>
              </a:rPr>
              <a:t>streams</a:t>
            </a:r>
            <a:endParaRPr lang="en-US" sz="1800" dirty="0"/>
          </a:p>
        </p:txBody>
      </p:sp>
      <p:sp>
        <p:nvSpPr>
          <p:cNvPr id="19" name="Text 17"/>
          <p:cNvSpPr/>
          <p:nvPr/>
        </p:nvSpPr>
        <p:spPr>
          <a:xfrm>
            <a:off x="4462272" y="2359152"/>
            <a:ext cx="164592" cy="182880"/>
          </a:xfrm>
          <a:prstGeom prst="rect">
            <a:avLst/>
          </a:prstGeom>
          <a:noFill/>
          <a:ln/>
        </p:spPr>
        <p:txBody>
          <a:bodyPr wrap="square" lIns="0" tIns="0" rIns="0" bIns="0" rtlCol="0" anchor="ctr"/>
          <a:lstStyle/>
          <a:p>
            <a:pPr marL="0" indent="0">
              <a:buNone/>
            </a:pPr>
            <a:r>
              <a:rPr lang="en-US" sz="1800" b="1" dirty="0">
                <a:solidFill>
                  <a:srgbClr val="22D3EE"/>
                </a:solidFill>
              </a:rPr>
              <a:t>•</a:t>
            </a:r>
            <a:endParaRPr lang="en-US" sz="1800" dirty="0"/>
          </a:p>
        </p:txBody>
      </p:sp>
      <p:sp>
        <p:nvSpPr>
          <p:cNvPr id="20" name="Text 18"/>
          <p:cNvSpPr/>
          <p:nvPr/>
        </p:nvSpPr>
        <p:spPr>
          <a:xfrm>
            <a:off x="4663440" y="2350008"/>
            <a:ext cx="3090672" cy="219456"/>
          </a:xfrm>
          <a:prstGeom prst="rect">
            <a:avLst/>
          </a:prstGeom>
          <a:noFill/>
          <a:ln/>
        </p:spPr>
        <p:txBody>
          <a:bodyPr wrap="square" lIns="0" tIns="0" rIns="0" bIns="0" rtlCol="0" anchor="ctr"/>
          <a:lstStyle/>
          <a:p>
            <a:pPr marL="0" indent="0">
              <a:buNone/>
            </a:pPr>
            <a:r>
              <a:rPr lang="en-US" sz="1800" dirty="0">
                <a:solidFill>
                  <a:srgbClr val="E5E7EB"/>
                </a:solidFill>
              </a:rPr>
              <a:t>cancellation</a:t>
            </a:r>
            <a:endParaRPr lang="en-US" sz="1800" dirty="0"/>
          </a:p>
        </p:txBody>
      </p:sp>
      <p:sp>
        <p:nvSpPr>
          <p:cNvPr id="21" name="Text 19"/>
          <p:cNvSpPr/>
          <p:nvPr/>
        </p:nvSpPr>
        <p:spPr>
          <a:xfrm>
            <a:off x="8421624" y="1444752"/>
            <a:ext cx="2926080" cy="201168"/>
          </a:xfrm>
          <a:prstGeom prst="rect">
            <a:avLst/>
          </a:prstGeom>
          <a:noFill/>
          <a:ln/>
        </p:spPr>
        <p:txBody>
          <a:bodyPr wrap="square" lIns="0" tIns="0" rIns="0" bIns="0" rtlCol="0" anchor="ctr"/>
          <a:lstStyle/>
          <a:p>
            <a:pPr marL="0" indent="0" algn="ctr">
              <a:buNone/>
            </a:pPr>
            <a:r>
              <a:rPr lang="en-US" sz="2000" b="1" dirty="0">
                <a:solidFill>
                  <a:srgbClr val="E5E7EB"/>
                </a:solidFill>
              </a:rPr>
              <a:t>Wybieraj klasę problemu</a:t>
            </a:r>
            <a:endParaRPr lang="en-US" sz="2000" dirty="0"/>
          </a:p>
        </p:txBody>
      </p:sp>
      <p:sp>
        <p:nvSpPr>
          <p:cNvPr id="22" name="Text 20"/>
          <p:cNvSpPr/>
          <p:nvPr/>
        </p:nvSpPr>
        <p:spPr>
          <a:xfrm>
            <a:off x="8412480" y="1874520"/>
            <a:ext cx="2926080" cy="594360"/>
          </a:xfrm>
          <a:prstGeom prst="rect">
            <a:avLst/>
          </a:prstGeom>
          <a:noFill/>
          <a:ln/>
        </p:spPr>
        <p:txBody>
          <a:bodyPr wrap="square" lIns="0" tIns="0" rIns="0" bIns="0" rtlCol="0" anchor="ctr"/>
          <a:lstStyle/>
          <a:p>
            <a:pPr marL="0" indent="0" algn="ctr">
              <a:buNone/>
            </a:pPr>
            <a:r>
              <a:rPr lang="en-US" sz="1800" b="1" dirty="0">
                <a:solidFill>
                  <a:srgbClr val="F59E0B"/>
                </a:solidFill>
              </a:rPr>
              <a:t>RxJS for flow</a:t>
            </a:r>
            <a:endParaRPr lang="en-US" sz="1800" dirty="0"/>
          </a:p>
          <a:p>
            <a:pPr marL="0" indent="0" algn="ctr">
              <a:buNone/>
            </a:pPr>
            <a:r>
              <a:rPr lang="en-US" sz="1800" b="1" dirty="0">
                <a:solidFill>
                  <a:srgbClr val="F59E0B"/>
                </a:solidFill>
              </a:rPr>
              <a:t>Signals for view model</a:t>
            </a:r>
            <a:endParaRPr lang="en-US" sz="1800" dirty="0"/>
          </a:p>
        </p:txBody>
      </p:sp>
      <p:sp>
        <p:nvSpPr>
          <p:cNvPr id="23" name="Shape 21"/>
          <p:cNvSpPr/>
          <p:nvPr/>
        </p:nvSpPr>
        <p:spPr>
          <a:xfrm>
            <a:off x="502920" y="3337560"/>
            <a:ext cx="5989320" cy="1965960"/>
          </a:xfrm>
          <a:prstGeom prst="roundRect">
            <a:avLst>
              <a:gd name="adj" fmla="val 3721"/>
            </a:avLst>
          </a:prstGeom>
          <a:solidFill>
            <a:srgbClr val="0B1220"/>
          </a:solidFill>
          <a:ln w="12700">
            <a:solidFill>
              <a:srgbClr val="22D3EE"/>
            </a:solidFill>
            <a:prstDash val="solid"/>
          </a:ln>
        </p:spPr>
        <p:txBody>
          <a:bodyPr/>
          <a:lstStyle/>
          <a:p>
            <a:endParaRPr lang="pl-PL"/>
          </a:p>
        </p:txBody>
      </p:sp>
      <p:sp>
        <p:nvSpPr>
          <p:cNvPr id="24" name="Text 22"/>
          <p:cNvSpPr/>
          <p:nvPr/>
        </p:nvSpPr>
        <p:spPr>
          <a:xfrm>
            <a:off x="612648" y="3401568"/>
            <a:ext cx="5769864" cy="164592"/>
          </a:xfrm>
          <a:prstGeom prst="rect">
            <a:avLst/>
          </a:prstGeom>
          <a:noFill/>
          <a:ln/>
        </p:spPr>
        <p:txBody>
          <a:bodyPr wrap="square" lIns="0" tIns="0" rIns="0" bIns="0" rtlCol="0" anchor="ctr"/>
          <a:lstStyle/>
          <a:p>
            <a:pPr marL="0" indent="0">
              <a:buNone/>
            </a:pPr>
            <a:r>
              <a:rPr lang="en-US" sz="1100" b="1" dirty="0">
                <a:solidFill>
                  <a:srgbClr val="94A3B8"/>
                </a:solidFill>
              </a:rPr>
              <a:t>RxJS — loading flow</a:t>
            </a:r>
            <a:endParaRPr lang="en-US" sz="1100" dirty="0"/>
          </a:p>
        </p:txBody>
      </p:sp>
      <p:sp>
        <p:nvSpPr>
          <p:cNvPr id="25" name="Text 23"/>
          <p:cNvSpPr/>
          <p:nvPr/>
        </p:nvSpPr>
        <p:spPr>
          <a:xfrm>
            <a:off x="630936" y="3575304"/>
            <a:ext cx="5733288" cy="165506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route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queryParamMap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pipe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params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params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'masterId'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id </a:t>
            </a:r>
            <a:r>
              <a:rPr lang="en-US" sz="1400" dirty="0">
                <a:solidFill>
                  <a:srgbClr val="66D9EF"/>
                </a:solidFill>
                <a:latin typeface="Consolas" pitchFamily="34" charset="0"/>
                <a:ea typeface="Consolas" pitchFamily="34" charset="-122"/>
                <a:cs typeface="Consolas" pitchFamily="34" charset="-120"/>
              </a:rPr>
              <a:t>is</a:t>
            </a:r>
            <a:r>
              <a:rPr lang="en-US" sz="1400" dirty="0">
                <a:solidFill>
                  <a:srgbClr val="FFFFFF"/>
                </a:solidFill>
                <a:latin typeface="Consolas" pitchFamily="34" charset="0"/>
                <a:ea typeface="Consolas" pitchFamily="34" charset="-122"/>
                <a:cs typeface="Consolas" pitchFamily="34" charset="-120"/>
              </a:rPr>
              <a:t> string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distinctUntilChanged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switchMap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masterId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from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loadDocumentFromStorage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masterId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subscribe</a:t>
            </a:r>
            <a:r>
              <a:rPr lang="en-US" sz="1400" dirty="0">
                <a:solidFill>
                  <a:srgbClr val="F8F8F2"/>
                </a:solidFill>
                <a:latin typeface="Consolas" pitchFamily="34" charset="0"/>
                <a:ea typeface="Consolas" pitchFamily="34" charset="-122"/>
                <a:cs typeface="Consolas" pitchFamily="34" charset="-120"/>
              </a:rPr>
              <a:t>(...)</a:t>
            </a:r>
            <a:endParaRPr lang="en-US" sz="1260" dirty="0"/>
          </a:p>
        </p:txBody>
      </p:sp>
      <p:sp>
        <p:nvSpPr>
          <p:cNvPr id="26" name="Shape 24"/>
          <p:cNvSpPr/>
          <p:nvPr/>
        </p:nvSpPr>
        <p:spPr>
          <a:xfrm>
            <a:off x="6720840" y="3337560"/>
            <a:ext cx="4965192" cy="1965960"/>
          </a:xfrm>
          <a:prstGeom prst="roundRect">
            <a:avLst>
              <a:gd name="adj" fmla="val 3721"/>
            </a:avLst>
          </a:prstGeom>
          <a:solidFill>
            <a:srgbClr val="0B1220"/>
          </a:solidFill>
          <a:ln w="12700">
            <a:solidFill>
              <a:srgbClr val="3B82F6"/>
            </a:solidFill>
            <a:prstDash val="solid"/>
          </a:ln>
        </p:spPr>
        <p:txBody>
          <a:bodyPr/>
          <a:lstStyle/>
          <a:p>
            <a:endParaRPr lang="pl-PL"/>
          </a:p>
        </p:txBody>
      </p:sp>
      <p:sp>
        <p:nvSpPr>
          <p:cNvPr id="27" name="Text 25"/>
          <p:cNvSpPr/>
          <p:nvPr/>
        </p:nvSpPr>
        <p:spPr>
          <a:xfrm>
            <a:off x="6830568" y="3401568"/>
            <a:ext cx="4745736" cy="164592"/>
          </a:xfrm>
          <a:prstGeom prst="rect">
            <a:avLst/>
          </a:prstGeom>
          <a:noFill/>
          <a:ln/>
        </p:spPr>
        <p:txBody>
          <a:bodyPr wrap="square" lIns="0" tIns="0" rIns="0" bIns="0" rtlCol="0" anchor="ctr"/>
          <a:lstStyle/>
          <a:p>
            <a:pPr marL="0" indent="0">
              <a:buNone/>
            </a:pPr>
            <a:r>
              <a:rPr lang="en-US" sz="1100" b="1" dirty="0">
                <a:solidFill>
                  <a:srgbClr val="94A3B8"/>
                </a:solidFill>
              </a:rPr>
              <a:t>Signals — local UI state</a:t>
            </a:r>
            <a:endParaRPr lang="en-US" sz="1100" dirty="0"/>
          </a:p>
        </p:txBody>
      </p:sp>
      <p:sp>
        <p:nvSpPr>
          <p:cNvPr id="28" name="Text 26"/>
          <p:cNvSpPr/>
          <p:nvPr/>
        </p:nvSpPr>
        <p:spPr>
          <a:xfrm>
            <a:off x="6848856" y="3575304"/>
            <a:ext cx="4709160" cy="165506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isLoading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errorMessage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string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66D9EF"/>
                </a:solidFill>
                <a:latin typeface="Consolas" pitchFamily="34" charset="0"/>
                <a:ea typeface="Consolas" pitchFamily="34" charset="-122"/>
                <a:cs typeface="Consolas" pitchFamily="34" charset="-120"/>
              </a:rPr>
              <a:t>null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zoomLevel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signal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100</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29" name="Shape 27"/>
          <p:cNvSpPr/>
          <p:nvPr/>
        </p:nvSpPr>
        <p:spPr>
          <a:xfrm>
            <a:off x="502920" y="5806440"/>
            <a:ext cx="11185855" cy="658368"/>
          </a:xfrm>
          <a:prstGeom prst="roundRect">
            <a:avLst>
              <a:gd name="adj" fmla="val 11111"/>
            </a:avLst>
          </a:prstGeom>
          <a:solidFill>
            <a:srgbClr val="111827"/>
          </a:solidFill>
          <a:ln w="12700">
            <a:solidFill>
              <a:srgbClr val="22D3EE"/>
            </a:solidFill>
            <a:prstDash val="solid"/>
          </a:ln>
        </p:spPr>
        <p:txBody>
          <a:bodyPr/>
          <a:lstStyle/>
          <a:p>
            <a:endParaRPr lang="pl-PL"/>
          </a:p>
        </p:txBody>
      </p:sp>
      <p:sp>
        <p:nvSpPr>
          <p:cNvPr id="30" name="Text 28"/>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switchMap rozwiązuje problem zmiany źródła danych. Signals rozwiązują problem lokalnego stanu i odczytu w widoku.</a:t>
            </a:r>
            <a:endParaRPr lang="en-US" sz="1800" dirty="0"/>
          </a:p>
        </p:txBody>
      </p:sp>
      <p:sp>
        <p:nvSpPr>
          <p:cNvPr id="31" name="Text 29"/>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8</a:t>
            </a:r>
            <a:endParaRPr lang="en-US" sz="1000" dirty="0"/>
          </a:p>
        </p:txBody>
      </p:sp>
      <p:sp>
        <p:nvSpPr>
          <p:cNvPr id="32" name="Text 30"/>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effect(), toSignal(), resource() — granice praktyczne</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207008"/>
            <a:ext cx="2761488" cy="1051560"/>
          </a:xfrm>
          <a:prstGeom prst="roundRect">
            <a:avLst>
              <a:gd name="adj" fmla="val 6957"/>
            </a:avLst>
          </a:prstGeom>
          <a:solidFill>
            <a:srgbClr val="172033"/>
          </a:solidFill>
          <a:ln w="12700">
            <a:solidFill>
              <a:srgbClr val="F59E0B"/>
            </a:solidFill>
            <a:prstDash val="solid"/>
          </a:ln>
        </p:spPr>
        <p:txBody>
          <a:bodyPr/>
          <a:lstStyle/>
          <a:p>
            <a:endParaRPr lang="pl-PL"/>
          </a:p>
        </p:txBody>
      </p:sp>
      <p:sp>
        <p:nvSpPr>
          <p:cNvPr id="5" name="Text 3"/>
          <p:cNvSpPr/>
          <p:nvPr/>
        </p:nvSpPr>
        <p:spPr>
          <a:xfrm>
            <a:off x="630936" y="1389888"/>
            <a:ext cx="2505456" cy="164592"/>
          </a:xfrm>
          <a:prstGeom prst="rect">
            <a:avLst/>
          </a:prstGeom>
          <a:noFill/>
          <a:ln/>
        </p:spPr>
        <p:txBody>
          <a:bodyPr wrap="square" lIns="0" tIns="0" rIns="0" bIns="0" rtlCol="0" anchor="ctr"/>
          <a:lstStyle/>
          <a:p>
            <a:pPr marL="0" indent="0">
              <a:buNone/>
            </a:pPr>
            <a:r>
              <a:rPr lang="en-US" sz="2000" b="1" dirty="0">
                <a:solidFill>
                  <a:srgbClr val="F59E0B"/>
                </a:solidFill>
              </a:rPr>
              <a:t>effect()</a:t>
            </a:r>
            <a:endParaRPr lang="en-US" sz="2000" dirty="0"/>
          </a:p>
        </p:txBody>
      </p:sp>
      <p:sp>
        <p:nvSpPr>
          <p:cNvPr id="6" name="Text 4"/>
          <p:cNvSpPr/>
          <p:nvPr/>
        </p:nvSpPr>
        <p:spPr>
          <a:xfrm>
            <a:off x="630936" y="1719072"/>
            <a:ext cx="2505456" cy="155448"/>
          </a:xfrm>
          <a:prstGeom prst="rect">
            <a:avLst/>
          </a:prstGeom>
          <a:noFill/>
          <a:ln/>
        </p:spPr>
        <p:txBody>
          <a:bodyPr wrap="square" lIns="0" tIns="0" rIns="0" bIns="0" rtlCol="0" anchor="ctr"/>
          <a:lstStyle/>
          <a:p>
            <a:pPr marL="0" indent="0">
              <a:buNone/>
            </a:pPr>
            <a:r>
              <a:rPr lang="en-US" sz="1450" dirty="0">
                <a:solidFill>
                  <a:srgbClr val="E5E7EB"/>
                </a:solidFill>
              </a:rPr>
              <a:t>telemetry, storage, DOM sync</a:t>
            </a:r>
            <a:endParaRPr lang="en-US" sz="1450" dirty="0"/>
          </a:p>
        </p:txBody>
      </p:sp>
      <p:sp>
        <p:nvSpPr>
          <p:cNvPr id="7" name="Shape 5"/>
          <p:cNvSpPr/>
          <p:nvPr/>
        </p:nvSpPr>
        <p:spPr>
          <a:xfrm>
            <a:off x="3429000" y="1207008"/>
            <a:ext cx="2761488" cy="1051560"/>
          </a:xfrm>
          <a:prstGeom prst="roundRect">
            <a:avLst>
              <a:gd name="adj" fmla="val 6957"/>
            </a:avLst>
          </a:prstGeom>
          <a:solidFill>
            <a:srgbClr val="172033"/>
          </a:solidFill>
          <a:ln w="12700">
            <a:solidFill>
              <a:srgbClr val="3B82F6"/>
            </a:solidFill>
            <a:prstDash val="solid"/>
          </a:ln>
        </p:spPr>
        <p:txBody>
          <a:bodyPr/>
          <a:lstStyle/>
          <a:p>
            <a:endParaRPr lang="pl-PL"/>
          </a:p>
        </p:txBody>
      </p:sp>
      <p:sp>
        <p:nvSpPr>
          <p:cNvPr id="8" name="Text 6"/>
          <p:cNvSpPr/>
          <p:nvPr/>
        </p:nvSpPr>
        <p:spPr>
          <a:xfrm>
            <a:off x="3557016" y="1389888"/>
            <a:ext cx="2505456" cy="164592"/>
          </a:xfrm>
          <a:prstGeom prst="rect">
            <a:avLst/>
          </a:prstGeom>
          <a:noFill/>
          <a:ln/>
        </p:spPr>
        <p:txBody>
          <a:bodyPr wrap="square" lIns="0" tIns="0" rIns="0" bIns="0" rtlCol="0" anchor="ctr"/>
          <a:lstStyle/>
          <a:p>
            <a:pPr marL="0" indent="0">
              <a:buNone/>
            </a:pPr>
            <a:r>
              <a:rPr lang="en-US" sz="2000" b="1" dirty="0">
                <a:solidFill>
                  <a:srgbClr val="3B82F6"/>
                </a:solidFill>
              </a:rPr>
              <a:t>toSignal()</a:t>
            </a:r>
            <a:endParaRPr lang="en-US" sz="2000" dirty="0"/>
          </a:p>
        </p:txBody>
      </p:sp>
      <p:sp>
        <p:nvSpPr>
          <p:cNvPr id="9" name="Text 7"/>
          <p:cNvSpPr/>
          <p:nvPr/>
        </p:nvSpPr>
        <p:spPr>
          <a:xfrm>
            <a:off x="3557016" y="1719072"/>
            <a:ext cx="2505456" cy="155448"/>
          </a:xfrm>
          <a:prstGeom prst="rect">
            <a:avLst/>
          </a:prstGeom>
          <a:noFill/>
          <a:ln/>
        </p:spPr>
        <p:txBody>
          <a:bodyPr wrap="square" lIns="0" tIns="0" rIns="0" bIns="0" rtlCol="0" anchor="ctr"/>
          <a:lstStyle/>
          <a:p>
            <a:pPr marL="0" indent="0">
              <a:buNone/>
            </a:pPr>
            <a:r>
              <a:rPr lang="en-US" sz="1450" dirty="0">
                <a:solidFill>
                  <a:srgbClr val="E5E7EB"/>
                </a:solidFill>
              </a:rPr>
              <a:t>bridge do read modelu</a:t>
            </a:r>
            <a:endParaRPr lang="en-US" sz="1450" dirty="0"/>
          </a:p>
        </p:txBody>
      </p:sp>
      <p:sp>
        <p:nvSpPr>
          <p:cNvPr id="10" name="Shape 8"/>
          <p:cNvSpPr/>
          <p:nvPr/>
        </p:nvSpPr>
        <p:spPr>
          <a:xfrm>
            <a:off x="6355080" y="1207008"/>
            <a:ext cx="2761488" cy="1051560"/>
          </a:xfrm>
          <a:prstGeom prst="roundRect">
            <a:avLst>
              <a:gd name="adj" fmla="val 6957"/>
            </a:avLst>
          </a:prstGeom>
          <a:solidFill>
            <a:srgbClr val="172033"/>
          </a:solidFill>
          <a:ln w="12700">
            <a:solidFill>
              <a:srgbClr val="22D3EE"/>
            </a:solidFill>
            <a:prstDash val="solid"/>
          </a:ln>
        </p:spPr>
        <p:txBody>
          <a:bodyPr/>
          <a:lstStyle/>
          <a:p>
            <a:endParaRPr lang="pl-PL"/>
          </a:p>
        </p:txBody>
      </p:sp>
      <p:sp>
        <p:nvSpPr>
          <p:cNvPr id="11" name="Text 9"/>
          <p:cNvSpPr/>
          <p:nvPr/>
        </p:nvSpPr>
        <p:spPr>
          <a:xfrm>
            <a:off x="6483096" y="1389888"/>
            <a:ext cx="2505456" cy="164592"/>
          </a:xfrm>
          <a:prstGeom prst="rect">
            <a:avLst/>
          </a:prstGeom>
          <a:noFill/>
          <a:ln/>
        </p:spPr>
        <p:txBody>
          <a:bodyPr wrap="square" lIns="0" tIns="0" rIns="0" bIns="0" rtlCol="0" anchor="ctr"/>
          <a:lstStyle/>
          <a:p>
            <a:pPr marL="0" indent="0">
              <a:buNone/>
            </a:pPr>
            <a:r>
              <a:rPr lang="en-US" sz="2000" b="1" dirty="0">
                <a:solidFill>
                  <a:srgbClr val="22D3EE"/>
                </a:solidFill>
              </a:rPr>
              <a:t>resource()</a:t>
            </a:r>
            <a:endParaRPr lang="en-US" sz="2000" dirty="0"/>
          </a:p>
        </p:txBody>
      </p:sp>
      <p:sp>
        <p:nvSpPr>
          <p:cNvPr id="12" name="Text 10"/>
          <p:cNvSpPr/>
          <p:nvPr/>
        </p:nvSpPr>
        <p:spPr>
          <a:xfrm>
            <a:off x="6483096" y="1719072"/>
            <a:ext cx="2505456" cy="155448"/>
          </a:xfrm>
          <a:prstGeom prst="rect">
            <a:avLst/>
          </a:prstGeom>
          <a:noFill/>
          <a:ln/>
        </p:spPr>
        <p:txBody>
          <a:bodyPr wrap="square" lIns="0" tIns="0" rIns="0" bIns="0" rtlCol="0" anchor="ctr"/>
          <a:lstStyle/>
          <a:p>
            <a:pPr marL="0" indent="0">
              <a:buNone/>
            </a:pPr>
            <a:r>
              <a:rPr lang="en-US" sz="1450" dirty="0">
                <a:solidFill>
                  <a:srgbClr val="E5E7EB"/>
                </a:solidFill>
              </a:rPr>
              <a:t>ostrożnie: async read side</a:t>
            </a:r>
            <a:endParaRPr lang="en-US" sz="1450" dirty="0"/>
          </a:p>
        </p:txBody>
      </p:sp>
      <p:sp>
        <p:nvSpPr>
          <p:cNvPr id="13" name="Shape 11"/>
          <p:cNvSpPr/>
          <p:nvPr/>
        </p:nvSpPr>
        <p:spPr>
          <a:xfrm>
            <a:off x="9281160" y="1207008"/>
            <a:ext cx="2761488" cy="1051560"/>
          </a:xfrm>
          <a:prstGeom prst="roundRect">
            <a:avLst>
              <a:gd name="adj" fmla="val 6957"/>
            </a:avLst>
          </a:prstGeom>
          <a:solidFill>
            <a:srgbClr val="172033"/>
          </a:solidFill>
          <a:ln w="12700">
            <a:solidFill>
              <a:srgbClr val="EF4444"/>
            </a:solidFill>
            <a:prstDash val="solid"/>
          </a:ln>
        </p:spPr>
        <p:txBody>
          <a:bodyPr/>
          <a:lstStyle/>
          <a:p>
            <a:endParaRPr lang="pl-PL"/>
          </a:p>
        </p:txBody>
      </p:sp>
      <p:sp>
        <p:nvSpPr>
          <p:cNvPr id="14" name="Text 12"/>
          <p:cNvSpPr/>
          <p:nvPr/>
        </p:nvSpPr>
        <p:spPr>
          <a:xfrm>
            <a:off x="9409176" y="1389888"/>
            <a:ext cx="2505456" cy="164592"/>
          </a:xfrm>
          <a:prstGeom prst="rect">
            <a:avLst/>
          </a:prstGeom>
          <a:noFill/>
          <a:ln/>
        </p:spPr>
        <p:txBody>
          <a:bodyPr wrap="square" lIns="0" tIns="0" rIns="0" bIns="0" rtlCol="0" anchor="ctr"/>
          <a:lstStyle/>
          <a:p>
            <a:pPr marL="0" indent="0">
              <a:buNone/>
            </a:pPr>
            <a:r>
              <a:rPr lang="en-US" sz="2000" b="1" dirty="0">
                <a:solidFill>
                  <a:srgbClr val="EF4444"/>
                </a:solidFill>
              </a:rPr>
              <a:t>Nie rób tego</a:t>
            </a:r>
            <a:endParaRPr lang="en-US" sz="2000" dirty="0"/>
          </a:p>
        </p:txBody>
      </p:sp>
      <p:sp>
        <p:nvSpPr>
          <p:cNvPr id="15" name="Text 13"/>
          <p:cNvSpPr/>
          <p:nvPr/>
        </p:nvSpPr>
        <p:spPr>
          <a:xfrm>
            <a:off x="9409176" y="1719072"/>
            <a:ext cx="2505456" cy="155448"/>
          </a:xfrm>
          <a:prstGeom prst="rect">
            <a:avLst/>
          </a:prstGeom>
          <a:noFill/>
          <a:ln/>
        </p:spPr>
        <p:txBody>
          <a:bodyPr wrap="square" lIns="0" tIns="0" rIns="0" bIns="0" rtlCol="0" anchor="ctr"/>
          <a:lstStyle/>
          <a:p>
            <a:pPr marL="0" indent="0">
              <a:buNone/>
            </a:pPr>
            <a:r>
              <a:rPr lang="en-US" sz="1450" dirty="0">
                <a:solidFill>
                  <a:srgbClr val="E5E7EB"/>
                </a:solidFill>
              </a:rPr>
              <a:t>workflow w effect()</a:t>
            </a:r>
            <a:endParaRPr lang="en-US" sz="1450" dirty="0"/>
          </a:p>
        </p:txBody>
      </p:sp>
      <p:sp>
        <p:nvSpPr>
          <p:cNvPr id="16" name="Shape 14"/>
          <p:cNvSpPr/>
          <p:nvPr/>
        </p:nvSpPr>
        <p:spPr>
          <a:xfrm>
            <a:off x="502920" y="2697480"/>
            <a:ext cx="11183112" cy="2697480"/>
          </a:xfrm>
          <a:prstGeom prst="roundRect">
            <a:avLst>
              <a:gd name="adj" fmla="val 2712"/>
            </a:avLst>
          </a:prstGeom>
          <a:solidFill>
            <a:srgbClr val="0B1220"/>
          </a:solidFill>
          <a:ln w="12700">
            <a:solidFill>
              <a:srgbClr val="334155"/>
            </a:solidFill>
            <a:prstDash val="solid"/>
          </a:ln>
        </p:spPr>
        <p:txBody>
          <a:bodyPr/>
          <a:lstStyle/>
          <a:p>
            <a:endParaRPr lang="pl-PL"/>
          </a:p>
        </p:txBody>
      </p:sp>
      <p:sp>
        <p:nvSpPr>
          <p:cNvPr id="17" name="Text 15"/>
          <p:cNvSpPr/>
          <p:nvPr/>
        </p:nvSpPr>
        <p:spPr>
          <a:xfrm>
            <a:off x="612648" y="2761488"/>
            <a:ext cx="10963656" cy="164592"/>
          </a:xfrm>
          <a:prstGeom prst="rect">
            <a:avLst/>
          </a:prstGeom>
          <a:noFill/>
          <a:ln/>
        </p:spPr>
        <p:txBody>
          <a:bodyPr wrap="square" lIns="0" tIns="0" rIns="0" bIns="0" rtlCol="0" anchor="ctr"/>
          <a:lstStyle/>
          <a:p>
            <a:pPr marL="0" indent="0">
              <a:buNone/>
            </a:pPr>
            <a:r>
              <a:rPr lang="en-US" sz="1100" b="1" dirty="0">
                <a:solidFill>
                  <a:srgbClr val="94A3B8"/>
                </a:solidFill>
              </a:rPr>
              <a:t>ConnectionStatusService</a:t>
            </a:r>
            <a:endParaRPr lang="en-US" sz="1100" dirty="0"/>
          </a:p>
        </p:txBody>
      </p:sp>
      <p:sp>
        <p:nvSpPr>
          <p:cNvPr id="18" name="Text 16"/>
          <p:cNvSpPr/>
          <p:nvPr/>
        </p:nvSpPr>
        <p:spPr>
          <a:xfrm>
            <a:off x="630936" y="2935224"/>
            <a:ext cx="10927080" cy="23865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ngZone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runOutsideAngular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healthCheckInterval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setInterval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checkApi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30_000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http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get</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HealthResponse</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pipe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timeout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5_000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subscribe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next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res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ngZone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run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this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_apiUnreachable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320" dirty="0"/>
          </a:p>
        </p:txBody>
      </p:sp>
      <p:sp>
        <p:nvSpPr>
          <p:cNvPr id="19" name="Shape 17"/>
          <p:cNvSpPr/>
          <p:nvPr/>
        </p:nvSpPr>
        <p:spPr>
          <a:xfrm>
            <a:off x="502920" y="5806440"/>
            <a:ext cx="11185855" cy="658368"/>
          </a:xfrm>
          <a:prstGeom prst="roundRect">
            <a:avLst>
              <a:gd name="adj" fmla="val 11111"/>
            </a:avLst>
          </a:prstGeom>
          <a:solidFill>
            <a:srgbClr val="111827"/>
          </a:solidFill>
          <a:ln w="12700">
            <a:solidFill>
              <a:srgbClr val="F59E0B"/>
            </a:solidFill>
            <a:prstDash val="solid"/>
          </a:ln>
        </p:spPr>
        <p:txBody>
          <a:bodyPr/>
          <a:lstStyle/>
          <a:p>
            <a:endParaRPr lang="pl-PL"/>
          </a:p>
        </p:txBody>
      </p:sp>
      <p:sp>
        <p:nvSpPr>
          <p:cNvPr id="20" name="Text 18"/>
          <p:cNvSpPr/>
          <p:nvPr/>
        </p:nvSpPr>
        <p:spPr>
          <a:xfrm>
            <a:off x="649224" y="5998464"/>
            <a:ext cx="10893247" cy="237744"/>
          </a:xfrm>
          <a:prstGeom prst="rect">
            <a:avLst/>
          </a:prstGeom>
          <a:noFill/>
          <a:ln/>
        </p:spPr>
        <p:txBody>
          <a:bodyPr wrap="square" lIns="0" tIns="0" rIns="0" bIns="0" rtlCol="0" anchor="ctr"/>
          <a:lstStyle/>
          <a:p>
            <a:pPr marL="0" indent="0" algn="ctr">
              <a:buNone/>
            </a:pPr>
            <a:r>
              <a:rPr lang="en-US" sz="1800" b="1" dirty="0">
                <a:solidFill>
                  <a:srgbClr val="E5E7EB"/>
                </a:solidFill>
              </a:rPr>
              <a:t>Nie każdy side effect w Angularze powinien być modelowany przez effect().</a:t>
            </a:r>
            <a:endParaRPr lang="en-US" sz="1800" dirty="0"/>
          </a:p>
        </p:txBody>
      </p:sp>
      <p:sp>
        <p:nvSpPr>
          <p:cNvPr id="21" name="Text 19"/>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9</a:t>
            </a:r>
            <a:endParaRPr lang="en-US" sz="1000" dirty="0"/>
          </a:p>
        </p:txBody>
      </p:sp>
      <p:sp>
        <p:nvSpPr>
          <p:cNvPr id="22" name="Text 20"/>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Signals w produkcji: pułapki, które wychodzą później</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188720"/>
            <a:ext cx="5715000" cy="4389120"/>
          </a:xfrm>
          <a:prstGeom prst="roundRect">
            <a:avLst>
              <a:gd name="adj" fmla="val 1667"/>
            </a:avLst>
          </a:prstGeom>
          <a:solidFill>
            <a:srgbClr val="172033"/>
          </a:solidFill>
          <a:ln w="12700">
            <a:solidFill>
              <a:srgbClr val="EF4444"/>
            </a:solidFill>
            <a:prstDash val="solid"/>
          </a:ln>
        </p:spPr>
        <p:txBody>
          <a:bodyPr/>
          <a:lstStyle/>
          <a:p>
            <a:endParaRPr lang="pl-PL"/>
          </a:p>
        </p:txBody>
      </p:sp>
      <p:sp>
        <p:nvSpPr>
          <p:cNvPr id="5" name="Text 3"/>
          <p:cNvSpPr/>
          <p:nvPr/>
        </p:nvSpPr>
        <p:spPr>
          <a:xfrm>
            <a:off x="649224" y="1371600"/>
            <a:ext cx="1097280" cy="182880"/>
          </a:xfrm>
          <a:prstGeom prst="rect">
            <a:avLst/>
          </a:prstGeom>
          <a:noFill/>
          <a:ln/>
        </p:spPr>
        <p:txBody>
          <a:bodyPr wrap="square" lIns="0" tIns="0" rIns="0" bIns="0" rtlCol="0" anchor="ctr"/>
          <a:lstStyle/>
          <a:p>
            <a:pPr marL="0" indent="0">
              <a:buNone/>
            </a:pPr>
            <a:r>
              <a:rPr lang="en-US" sz="2200" b="1" dirty="0">
                <a:solidFill>
                  <a:srgbClr val="EF4444"/>
                </a:solidFill>
              </a:rPr>
              <a:t>Pułapki</a:t>
            </a:r>
            <a:endParaRPr lang="en-US" sz="2200" dirty="0"/>
          </a:p>
        </p:txBody>
      </p:sp>
      <p:sp>
        <p:nvSpPr>
          <p:cNvPr id="6" name="Text 4"/>
          <p:cNvSpPr/>
          <p:nvPr/>
        </p:nvSpPr>
        <p:spPr>
          <a:xfrm>
            <a:off x="576072" y="1783080"/>
            <a:ext cx="164592" cy="1828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7" name="Text 5"/>
          <p:cNvSpPr/>
          <p:nvPr/>
        </p:nvSpPr>
        <p:spPr>
          <a:xfrm>
            <a:off x="777240" y="1773936"/>
            <a:ext cx="5193792" cy="219456"/>
          </a:xfrm>
          <a:prstGeom prst="rect">
            <a:avLst/>
          </a:prstGeom>
          <a:noFill/>
          <a:ln/>
        </p:spPr>
        <p:txBody>
          <a:bodyPr wrap="square" lIns="0" tIns="0" rIns="0" bIns="0" rtlCol="0" anchor="ctr"/>
          <a:lstStyle/>
          <a:p>
            <a:pPr marL="0" indent="0">
              <a:buNone/>
            </a:pPr>
            <a:r>
              <a:rPr lang="en-US" sz="1800" dirty="0">
                <a:solidFill>
                  <a:srgbClr val="E5E7EB"/>
                </a:solidFill>
              </a:rPr>
              <a:t>deep computed chains są trudne do debugowania</a:t>
            </a:r>
            <a:endParaRPr lang="en-US" sz="1800" dirty="0"/>
          </a:p>
        </p:txBody>
      </p:sp>
      <p:sp>
        <p:nvSpPr>
          <p:cNvPr id="8" name="Text 6"/>
          <p:cNvSpPr/>
          <p:nvPr/>
        </p:nvSpPr>
        <p:spPr>
          <a:xfrm>
            <a:off x="576072" y="2295144"/>
            <a:ext cx="164592" cy="1828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9" name="Text 7"/>
          <p:cNvSpPr/>
          <p:nvPr/>
        </p:nvSpPr>
        <p:spPr>
          <a:xfrm>
            <a:off x="777240" y="2286000"/>
            <a:ext cx="5193792" cy="219456"/>
          </a:xfrm>
          <a:prstGeom prst="rect">
            <a:avLst/>
          </a:prstGeom>
          <a:noFill/>
          <a:ln/>
        </p:spPr>
        <p:txBody>
          <a:bodyPr wrap="square" lIns="0" tIns="0" rIns="0" bIns="0" rtlCol="0" anchor="ctr"/>
          <a:lstStyle/>
          <a:p>
            <a:pPr marL="0" indent="0">
              <a:buNone/>
            </a:pPr>
            <a:r>
              <a:rPr lang="en-US" sz="1800" dirty="0">
                <a:solidFill>
                  <a:srgbClr val="E5E7EB"/>
                </a:solidFill>
              </a:rPr>
              <a:t>ciężkie computed() potrafią stać się hotspotem</a:t>
            </a:r>
            <a:endParaRPr lang="en-US" sz="1800" dirty="0"/>
          </a:p>
        </p:txBody>
      </p:sp>
      <p:sp>
        <p:nvSpPr>
          <p:cNvPr id="10" name="Text 8"/>
          <p:cNvSpPr/>
          <p:nvPr/>
        </p:nvSpPr>
        <p:spPr>
          <a:xfrm>
            <a:off x="576072" y="2807208"/>
            <a:ext cx="164592" cy="1828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11" name="Text 9"/>
          <p:cNvSpPr/>
          <p:nvPr/>
        </p:nvSpPr>
        <p:spPr>
          <a:xfrm>
            <a:off x="777240" y="2798064"/>
            <a:ext cx="5193792" cy="219456"/>
          </a:xfrm>
          <a:prstGeom prst="rect">
            <a:avLst/>
          </a:prstGeom>
          <a:noFill/>
          <a:ln/>
        </p:spPr>
        <p:txBody>
          <a:bodyPr wrap="square" lIns="0" tIns="0" rIns="0" bIns="0" rtlCol="0" anchor="ctr"/>
          <a:lstStyle/>
          <a:p>
            <a:pPr marL="0" indent="0">
              <a:buNone/>
            </a:pPr>
            <a:r>
              <a:rPr lang="en-US" sz="1800" dirty="0">
                <a:solidFill>
                  <a:srgbClr val="E5E7EB"/>
                </a:solidFill>
              </a:rPr>
              <a:t>dynamic dependencies mogą zgubić sygnał</a:t>
            </a:r>
            <a:endParaRPr lang="en-US" sz="1800" dirty="0"/>
          </a:p>
        </p:txBody>
      </p:sp>
      <p:sp>
        <p:nvSpPr>
          <p:cNvPr id="12" name="Text 10"/>
          <p:cNvSpPr/>
          <p:nvPr/>
        </p:nvSpPr>
        <p:spPr>
          <a:xfrm>
            <a:off x="576072" y="3319272"/>
            <a:ext cx="164592" cy="1828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13" name="Text 11"/>
          <p:cNvSpPr/>
          <p:nvPr/>
        </p:nvSpPr>
        <p:spPr>
          <a:xfrm>
            <a:off x="777240" y="3310128"/>
            <a:ext cx="5193792" cy="219456"/>
          </a:xfrm>
          <a:prstGeom prst="rect">
            <a:avLst/>
          </a:prstGeom>
          <a:noFill/>
          <a:ln/>
        </p:spPr>
        <p:txBody>
          <a:bodyPr wrap="square" lIns="0" tIns="0" rIns="0" bIns="0" rtlCol="0" anchor="ctr"/>
          <a:lstStyle/>
          <a:p>
            <a:pPr marL="0" indent="0">
              <a:buNone/>
            </a:pPr>
            <a:r>
              <a:rPr lang="en-US" sz="1800" dirty="0">
                <a:solidFill>
                  <a:srgbClr val="E5E7EB"/>
                </a:solidFill>
              </a:rPr>
              <a:t>effect() nie jest workflow engine</a:t>
            </a:r>
            <a:endParaRPr lang="en-US" sz="1800" dirty="0"/>
          </a:p>
        </p:txBody>
      </p:sp>
      <p:sp>
        <p:nvSpPr>
          <p:cNvPr id="14" name="Text 12"/>
          <p:cNvSpPr/>
          <p:nvPr/>
        </p:nvSpPr>
        <p:spPr>
          <a:xfrm>
            <a:off x="576072" y="3831336"/>
            <a:ext cx="164592" cy="1828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15" name="Text 13"/>
          <p:cNvSpPr/>
          <p:nvPr/>
        </p:nvSpPr>
        <p:spPr>
          <a:xfrm>
            <a:off x="777240" y="3822192"/>
            <a:ext cx="5193792" cy="219456"/>
          </a:xfrm>
          <a:prstGeom prst="rect">
            <a:avLst/>
          </a:prstGeom>
          <a:noFill/>
          <a:ln/>
        </p:spPr>
        <p:txBody>
          <a:bodyPr wrap="square" lIns="0" tIns="0" rIns="0" bIns="0" rtlCol="0" anchor="ctr"/>
          <a:lstStyle/>
          <a:p>
            <a:pPr marL="0" indent="0">
              <a:buNone/>
            </a:pPr>
            <a:r>
              <a:rPr lang="en-US" sz="1800" dirty="0">
                <a:solidFill>
                  <a:srgbClr val="E5E7EB"/>
                </a:solidFill>
              </a:rPr>
              <a:t>bez konwencji zespół miesza Signals i RxJS</a:t>
            </a:r>
            <a:endParaRPr lang="en-US" sz="1800" dirty="0"/>
          </a:p>
        </p:txBody>
      </p:sp>
      <p:sp>
        <p:nvSpPr>
          <p:cNvPr id="16" name="Shape 14"/>
          <p:cNvSpPr/>
          <p:nvPr/>
        </p:nvSpPr>
        <p:spPr>
          <a:xfrm>
            <a:off x="6446520" y="1645920"/>
            <a:ext cx="5193792" cy="1554480"/>
          </a:xfrm>
          <a:prstGeom prst="roundRect">
            <a:avLst>
              <a:gd name="adj" fmla="val 4706"/>
            </a:avLst>
          </a:prstGeom>
          <a:solidFill>
            <a:srgbClr val="0B1220"/>
          </a:solidFill>
          <a:ln w="12700">
            <a:solidFill>
              <a:srgbClr val="F59E0B"/>
            </a:solidFill>
            <a:prstDash val="solid"/>
          </a:ln>
        </p:spPr>
        <p:txBody>
          <a:bodyPr/>
          <a:lstStyle/>
          <a:p>
            <a:endParaRPr lang="pl-PL"/>
          </a:p>
        </p:txBody>
      </p:sp>
      <p:sp>
        <p:nvSpPr>
          <p:cNvPr id="17" name="Text 15"/>
          <p:cNvSpPr/>
          <p:nvPr/>
        </p:nvSpPr>
        <p:spPr>
          <a:xfrm>
            <a:off x="6556248" y="1709928"/>
            <a:ext cx="4974336" cy="164592"/>
          </a:xfrm>
          <a:prstGeom prst="rect">
            <a:avLst/>
          </a:prstGeom>
          <a:noFill/>
          <a:ln/>
        </p:spPr>
        <p:txBody>
          <a:bodyPr wrap="square" lIns="0" tIns="0" rIns="0" bIns="0" rtlCol="0" anchor="ctr"/>
          <a:lstStyle/>
          <a:p>
            <a:pPr marL="0" indent="0">
              <a:buNone/>
            </a:pPr>
            <a:r>
              <a:rPr lang="en-US" sz="1100" b="1" dirty="0">
                <a:solidFill>
                  <a:srgbClr val="94A3B8"/>
                </a:solidFill>
              </a:rPr>
              <a:t>dynamic dependencies + short-circuiting</a:t>
            </a:r>
            <a:endParaRPr lang="en-US" sz="1100" dirty="0"/>
          </a:p>
        </p:txBody>
      </p:sp>
      <p:sp>
        <p:nvSpPr>
          <p:cNvPr id="18" name="Text 16"/>
          <p:cNvSpPr/>
          <p:nvPr/>
        </p:nvSpPr>
        <p:spPr>
          <a:xfrm>
            <a:off x="6574536" y="1883664"/>
            <a:ext cx="4937760" cy="1243584"/>
          </a:xfrm>
          <a:prstGeom prst="rect">
            <a:avLst/>
          </a:prstGeom>
          <a:noFill/>
          <a:ln/>
        </p:spPr>
        <p:txBody>
          <a:bodyPr wrap="square" lIns="0" tIns="0" rIns="0" bIns="0"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effect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if</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8F8F2"/>
                </a:solidFill>
                <a:latin typeface="Consolas" pitchFamily="34" charset="0"/>
                <a:ea typeface="Consolas" pitchFamily="34" charset="-122"/>
                <a:cs typeface="Consolas" pitchFamily="34" charset="-120"/>
              </a:rPr>
              <a:t>});</a:t>
            </a:r>
            <a:endParaRPr lang="en-US" sz="1500" dirty="0"/>
          </a:p>
        </p:txBody>
      </p:sp>
      <p:sp>
        <p:nvSpPr>
          <p:cNvPr id="19" name="Shape 17"/>
          <p:cNvSpPr/>
          <p:nvPr/>
        </p:nvSpPr>
        <p:spPr>
          <a:xfrm>
            <a:off x="6446520" y="3429000"/>
            <a:ext cx="5193792" cy="1417320"/>
          </a:xfrm>
          <a:prstGeom prst="roundRect">
            <a:avLst>
              <a:gd name="adj" fmla="val 5161"/>
            </a:avLst>
          </a:prstGeom>
          <a:solidFill>
            <a:srgbClr val="172033"/>
          </a:solidFill>
          <a:ln w="12700">
            <a:solidFill>
              <a:srgbClr val="22D3EE"/>
            </a:solidFill>
            <a:prstDash val="solid"/>
          </a:ln>
        </p:spPr>
        <p:txBody>
          <a:bodyPr/>
          <a:lstStyle/>
          <a:p>
            <a:endParaRPr lang="pl-PL"/>
          </a:p>
        </p:txBody>
      </p:sp>
      <p:sp>
        <p:nvSpPr>
          <p:cNvPr id="20" name="Text 18"/>
          <p:cNvSpPr/>
          <p:nvPr/>
        </p:nvSpPr>
        <p:spPr>
          <a:xfrm>
            <a:off x="6583680" y="3680460"/>
            <a:ext cx="4800600" cy="457200"/>
          </a:xfrm>
          <a:prstGeom prst="rect">
            <a:avLst/>
          </a:prstGeom>
          <a:noFill/>
          <a:ln/>
        </p:spPr>
        <p:txBody>
          <a:bodyPr wrap="square" lIns="0" tIns="0" rIns="0" bIns="0" rtlCol="0" anchor="ctr"/>
          <a:lstStyle/>
          <a:p>
            <a:pPr marL="0" indent="0" algn="ctr">
              <a:buNone/>
            </a:pPr>
            <a:r>
              <a:rPr lang="en-US" sz="2100" b="1" dirty="0">
                <a:solidFill>
                  <a:srgbClr val="E5E7EB"/>
                </a:solidFill>
              </a:rPr>
              <a:t>Production bugs często wynikają z modelu zależności, a nie z długości kodu.</a:t>
            </a:r>
            <a:endParaRPr lang="en-US" sz="2100" dirty="0"/>
          </a:p>
        </p:txBody>
      </p:sp>
      <p:sp>
        <p:nvSpPr>
          <p:cNvPr id="21" name="Text 19"/>
          <p:cNvSpPr/>
          <p:nvPr/>
        </p:nvSpPr>
        <p:spPr>
          <a:xfrm>
            <a:off x="6629400" y="4315968"/>
            <a:ext cx="4754880" cy="237744"/>
          </a:xfrm>
          <a:prstGeom prst="rect">
            <a:avLst/>
          </a:prstGeom>
          <a:noFill/>
          <a:ln/>
        </p:spPr>
        <p:txBody>
          <a:bodyPr wrap="square" lIns="0" tIns="0" rIns="0" bIns="0" rtlCol="0" anchor="ctr"/>
          <a:lstStyle/>
          <a:p>
            <a:pPr marL="0" indent="0" algn="ctr">
              <a:buNone/>
            </a:pPr>
            <a:r>
              <a:rPr lang="en-US" sz="1350" dirty="0">
                <a:solidFill>
                  <a:srgbClr val="94A3B8"/>
                </a:solidFill>
              </a:rPr>
              <a:t>Signal Graph w Angular DevTools pomaga zobaczyć aktywne połączenia między sygnałami i efektami.</a:t>
            </a:r>
            <a:endParaRPr lang="en-US" sz="1350" dirty="0"/>
          </a:p>
        </p:txBody>
      </p:sp>
      <p:sp>
        <p:nvSpPr>
          <p:cNvPr id="22" name="Text 20"/>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10</a:t>
            </a:r>
            <a:endParaRPr lang="en-US" sz="1000" dirty="0"/>
          </a:p>
        </p:txBody>
      </p:sp>
      <p:sp>
        <p:nvSpPr>
          <p:cNvPr id="23" name="Text 21"/>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5 heurystyk, które realnie działają</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Text 2"/>
          <p:cNvSpPr/>
          <p:nvPr/>
        </p:nvSpPr>
        <p:spPr>
          <a:xfrm>
            <a:off x="914400" y="1234440"/>
            <a:ext cx="365760" cy="274320"/>
          </a:xfrm>
          <a:prstGeom prst="rect">
            <a:avLst/>
          </a:prstGeom>
          <a:noFill/>
          <a:ln/>
        </p:spPr>
        <p:txBody>
          <a:bodyPr wrap="square" lIns="0" tIns="0" rIns="0" bIns="0" rtlCol="0" anchor="ctr"/>
          <a:lstStyle/>
          <a:p>
            <a:pPr marL="0" indent="0" algn="ctr">
              <a:buNone/>
            </a:pPr>
            <a:r>
              <a:rPr lang="en-US" sz="2800" b="1" dirty="0">
                <a:solidFill>
                  <a:srgbClr val="3B82F6"/>
                </a:solidFill>
              </a:rPr>
              <a:t>1</a:t>
            </a:r>
            <a:endParaRPr lang="en-US" sz="2800" dirty="0"/>
          </a:p>
        </p:txBody>
      </p:sp>
      <p:sp>
        <p:nvSpPr>
          <p:cNvPr id="5" name="Shape 3"/>
          <p:cNvSpPr/>
          <p:nvPr/>
        </p:nvSpPr>
        <p:spPr>
          <a:xfrm>
            <a:off x="1508760" y="1399032"/>
            <a:ext cx="457200" cy="0"/>
          </a:xfrm>
          <a:prstGeom prst="line">
            <a:avLst/>
          </a:prstGeom>
          <a:noFill/>
          <a:ln w="12700">
            <a:solidFill>
              <a:srgbClr val="334155"/>
            </a:solidFill>
            <a:prstDash val="solid"/>
          </a:ln>
        </p:spPr>
        <p:txBody>
          <a:bodyPr/>
          <a:lstStyle/>
          <a:p>
            <a:endParaRPr lang="pl-PL"/>
          </a:p>
        </p:txBody>
      </p:sp>
      <p:sp>
        <p:nvSpPr>
          <p:cNvPr id="6" name="Text 4"/>
          <p:cNvSpPr/>
          <p:nvPr/>
        </p:nvSpPr>
        <p:spPr>
          <a:xfrm>
            <a:off x="2103120" y="1216152"/>
            <a:ext cx="8138160" cy="274320"/>
          </a:xfrm>
          <a:prstGeom prst="rect">
            <a:avLst/>
          </a:prstGeom>
          <a:noFill/>
          <a:ln/>
        </p:spPr>
        <p:txBody>
          <a:bodyPr wrap="square" lIns="0" tIns="0" rIns="0" bIns="0" rtlCol="0" anchor="ctr"/>
          <a:lstStyle/>
          <a:p>
            <a:pPr marL="0" indent="0">
              <a:buNone/>
            </a:pPr>
            <a:r>
              <a:rPr lang="en-US" sz="2400" b="1" dirty="0">
                <a:solidFill>
                  <a:srgbClr val="E5E7EB"/>
                </a:solidFill>
              </a:rPr>
              <a:t>DTO ≠ model domenowy</a:t>
            </a:r>
            <a:endParaRPr lang="en-US" sz="2400" dirty="0"/>
          </a:p>
        </p:txBody>
      </p:sp>
      <p:sp>
        <p:nvSpPr>
          <p:cNvPr id="7" name="Text 5"/>
          <p:cNvSpPr/>
          <p:nvPr/>
        </p:nvSpPr>
        <p:spPr>
          <a:xfrm>
            <a:off x="914400" y="2057400"/>
            <a:ext cx="365760" cy="274320"/>
          </a:xfrm>
          <a:prstGeom prst="rect">
            <a:avLst/>
          </a:prstGeom>
          <a:noFill/>
          <a:ln/>
        </p:spPr>
        <p:txBody>
          <a:bodyPr wrap="square" lIns="0" tIns="0" rIns="0" bIns="0" rtlCol="0" anchor="ctr"/>
          <a:lstStyle/>
          <a:p>
            <a:pPr marL="0" indent="0" algn="ctr">
              <a:buNone/>
            </a:pPr>
            <a:r>
              <a:rPr lang="en-US" sz="2800" b="1" dirty="0">
                <a:solidFill>
                  <a:srgbClr val="3B82F6"/>
                </a:solidFill>
              </a:rPr>
              <a:t>2</a:t>
            </a:r>
            <a:endParaRPr lang="en-US" sz="2800" dirty="0"/>
          </a:p>
        </p:txBody>
      </p:sp>
      <p:sp>
        <p:nvSpPr>
          <p:cNvPr id="8" name="Shape 6"/>
          <p:cNvSpPr/>
          <p:nvPr/>
        </p:nvSpPr>
        <p:spPr>
          <a:xfrm>
            <a:off x="1508760" y="2221992"/>
            <a:ext cx="457200" cy="0"/>
          </a:xfrm>
          <a:prstGeom prst="line">
            <a:avLst/>
          </a:prstGeom>
          <a:noFill/>
          <a:ln w="12700">
            <a:solidFill>
              <a:srgbClr val="334155"/>
            </a:solidFill>
            <a:prstDash val="solid"/>
          </a:ln>
        </p:spPr>
        <p:txBody>
          <a:bodyPr/>
          <a:lstStyle/>
          <a:p>
            <a:endParaRPr lang="pl-PL"/>
          </a:p>
        </p:txBody>
      </p:sp>
      <p:sp>
        <p:nvSpPr>
          <p:cNvPr id="9" name="Text 7"/>
          <p:cNvSpPr/>
          <p:nvPr/>
        </p:nvSpPr>
        <p:spPr>
          <a:xfrm>
            <a:off x="2103120" y="2039112"/>
            <a:ext cx="8138160" cy="274320"/>
          </a:xfrm>
          <a:prstGeom prst="rect">
            <a:avLst/>
          </a:prstGeom>
          <a:noFill/>
          <a:ln/>
        </p:spPr>
        <p:txBody>
          <a:bodyPr wrap="square" lIns="0" tIns="0" rIns="0" bIns="0" rtlCol="0" anchor="ctr"/>
          <a:lstStyle/>
          <a:p>
            <a:pPr marL="0" indent="0">
              <a:buNone/>
            </a:pPr>
            <a:r>
              <a:rPr lang="en-US" sz="2400" b="1" dirty="0">
                <a:solidFill>
                  <a:srgbClr val="E5E7EB"/>
                </a:solidFill>
              </a:rPr>
              <a:t>Store mówi językiem komend</a:t>
            </a:r>
            <a:endParaRPr lang="en-US" sz="2400" dirty="0"/>
          </a:p>
        </p:txBody>
      </p:sp>
      <p:sp>
        <p:nvSpPr>
          <p:cNvPr id="10" name="Text 8"/>
          <p:cNvSpPr/>
          <p:nvPr/>
        </p:nvSpPr>
        <p:spPr>
          <a:xfrm>
            <a:off x="914400" y="2880360"/>
            <a:ext cx="365760" cy="274320"/>
          </a:xfrm>
          <a:prstGeom prst="rect">
            <a:avLst/>
          </a:prstGeom>
          <a:noFill/>
          <a:ln/>
        </p:spPr>
        <p:txBody>
          <a:bodyPr wrap="square" lIns="0" tIns="0" rIns="0" bIns="0" rtlCol="0" anchor="ctr"/>
          <a:lstStyle/>
          <a:p>
            <a:pPr marL="0" indent="0" algn="ctr">
              <a:buNone/>
            </a:pPr>
            <a:r>
              <a:rPr lang="en-US" sz="2800" b="1" dirty="0">
                <a:solidFill>
                  <a:srgbClr val="3B82F6"/>
                </a:solidFill>
              </a:rPr>
              <a:t>3</a:t>
            </a:r>
            <a:endParaRPr lang="en-US" sz="2800" dirty="0"/>
          </a:p>
        </p:txBody>
      </p:sp>
      <p:sp>
        <p:nvSpPr>
          <p:cNvPr id="11" name="Shape 9"/>
          <p:cNvSpPr/>
          <p:nvPr/>
        </p:nvSpPr>
        <p:spPr>
          <a:xfrm>
            <a:off x="1508760" y="3044952"/>
            <a:ext cx="457200" cy="0"/>
          </a:xfrm>
          <a:prstGeom prst="line">
            <a:avLst/>
          </a:prstGeom>
          <a:noFill/>
          <a:ln w="12700">
            <a:solidFill>
              <a:srgbClr val="334155"/>
            </a:solidFill>
            <a:prstDash val="solid"/>
          </a:ln>
        </p:spPr>
        <p:txBody>
          <a:bodyPr/>
          <a:lstStyle/>
          <a:p>
            <a:endParaRPr lang="pl-PL"/>
          </a:p>
        </p:txBody>
      </p:sp>
      <p:sp>
        <p:nvSpPr>
          <p:cNvPr id="12" name="Text 10"/>
          <p:cNvSpPr/>
          <p:nvPr/>
        </p:nvSpPr>
        <p:spPr>
          <a:xfrm>
            <a:off x="2103120" y="2862072"/>
            <a:ext cx="8138160" cy="274320"/>
          </a:xfrm>
          <a:prstGeom prst="rect">
            <a:avLst/>
          </a:prstGeom>
          <a:noFill/>
          <a:ln/>
        </p:spPr>
        <p:txBody>
          <a:bodyPr wrap="square" lIns="0" tIns="0" rIns="0" bIns="0" rtlCol="0" anchor="ctr"/>
          <a:lstStyle/>
          <a:p>
            <a:pPr marL="0" indent="0">
              <a:buNone/>
            </a:pPr>
            <a:r>
              <a:rPr lang="en-US" sz="2400" b="1" dirty="0">
                <a:solidFill>
                  <a:srgbClr val="E5E7EB"/>
                </a:solidFill>
              </a:rPr>
              <a:t>Biznes nie mieszka tylko w computed()</a:t>
            </a:r>
            <a:endParaRPr lang="en-US" sz="2400" dirty="0"/>
          </a:p>
        </p:txBody>
      </p:sp>
      <p:sp>
        <p:nvSpPr>
          <p:cNvPr id="13" name="Text 11"/>
          <p:cNvSpPr/>
          <p:nvPr/>
        </p:nvSpPr>
        <p:spPr>
          <a:xfrm>
            <a:off x="914400" y="3703320"/>
            <a:ext cx="365760" cy="274320"/>
          </a:xfrm>
          <a:prstGeom prst="rect">
            <a:avLst/>
          </a:prstGeom>
          <a:noFill/>
          <a:ln/>
        </p:spPr>
        <p:txBody>
          <a:bodyPr wrap="square" lIns="0" tIns="0" rIns="0" bIns="0" rtlCol="0" anchor="ctr"/>
          <a:lstStyle/>
          <a:p>
            <a:pPr marL="0" indent="0" algn="ctr">
              <a:buNone/>
            </a:pPr>
            <a:r>
              <a:rPr lang="en-US" sz="2800" b="1" dirty="0">
                <a:solidFill>
                  <a:srgbClr val="3B82F6"/>
                </a:solidFill>
              </a:rPr>
              <a:t>4</a:t>
            </a:r>
            <a:endParaRPr lang="en-US" sz="2800" dirty="0"/>
          </a:p>
        </p:txBody>
      </p:sp>
      <p:sp>
        <p:nvSpPr>
          <p:cNvPr id="14" name="Shape 12"/>
          <p:cNvSpPr/>
          <p:nvPr/>
        </p:nvSpPr>
        <p:spPr>
          <a:xfrm>
            <a:off x="1508760" y="3867912"/>
            <a:ext cx="457200" cy="0"/>
          </a:xfrm>
          <a:prstGeom prst="line">
            <a:avLst/>
          </a:prstGeom>
          <a:noFill/>
          <a:ln w="12700">
            <a:solidFill>
              <a:srgbClr val="334155"/>
            </a:solidFill>
            <a:prstDash val="solid"/>
          </a:ln>
        </p:spPr>
        <p:txBody>
          <a:bodyPr/>
          <a:lstStyle/>
          <a:p>
            <a:endParaRPr lang="pl-PL"/>
          </a:p>
        </p:txBody>
      </p:sp>
      <p:sp>
        <p:nvSpPr>
          <p:cNvPr id="15" name="Text 13"/>
          <p:cNvSpPr/>
          <p:nvPr/>
        </p:nvSpPr>
        <p:spPr>
          <a:xfrm>
            <a:off x="2103120" y="3685032"/>
            <a:ext cx="8138160" cy="274320"/>
          </a:xfrm>
          <a:prstGeom prst="rect">
            <a:avLst/>
          </a:prstGeom>
          <a:noFill/>
          <a:ln/>
        </p:spPr>
        <p:txBody>
          <a:bodyPr wrap="square" lIns="0" tIns="0" rIns="0" bIns="0" rtlCol="0" anchor="ctr"/>
          <a:lstStyle/>
          <a:p>
            <a:pPr marL="0" indent="0">
              <a:buNone/>
            </a:pPr>
            <a:r>
              <a:rPr lang="en-US" sz="2400" b="1" dirty="0">
                <a:solidFill>
                  <a:srgbClr val="E5E7EB"/>
                </a:solidFill>
              </a:rPr>
              <a:t>Komponent renderuje, nie orzeka</a:t>
            </a:r>
            <a:endParaRPr lang="en-US" sz="2400" dirty="0"/>
          </a:p>
        </p:txBody>
      </p:sp>
      <p:sp>
        <p:nvSpPr>
          <p:cNvPr id="16" name="Text 14"/>
          <p:cNvSpPr/>
          <p:nvPr/>
        </p:nvSpPr>
        <p:spPr>
          <a:xfrm>
            <a:off x="914400" y="4526280"/>
            <a:ext cx="365760" cy="274320"/>
          </a:xfrm>
          <a:prstGeom prst="rect">
            <a:avLst/>
          </a:prstGeom>
          <a:noFill/>
          <a:ln/>
        </p:spPr>
        <p:txBody>
          <a:bodyPr wrap="square" lIns="0" tIns="0" rIns="0" bIns="0" rtlCol="0" anchor="ctr"/>
          <a:lstStyle/>
          <a:p>
            <a:pPr marL="0" indent="0" algn="ctr">
              <a:buNone/>
            </a:pPr>
            <a:r>
              <a:rPr lang="en-US" sz="2800" b="1" dirty="0">
                <a:solidFill>
                  <a:srgbClr val="3B82F6"/>
                </a:solidFill>
              </a:rPr>
              <a:t>5</a:t>
            </a:r>
            <a:endParaRPr lang="en-US" sz="2800" dirty="0"/>
          </a:p>
        </p:txBody>
      </p:sp>
      <p:sp>
        <p:nvSpPr>
          <p:cNvPr id="17" name="Shape 15"/>
          <p:cNvSpPr/>
          <p:nvPr/>
        </p:nvSpPr>
        <p:spPr>
          <a:xfrm>
            <a:off x="1508760" y="4690872"/>
            <a:ext cx="457200" cy="0"/>
          </a:xfrm>
          <a:prstGeom prst="line">
            <a:avLst/>
          </a:prstGeom>
          <a:noFill/>
          <a:ln w="12700">
            <a:solidFill>
              <a:srgbClr val="334155"/>
            </a:solidFill>
            <a:prstDash val="solid"/>
          </a:ln>
        </p:spPr>
        <p:txBody>
          <a:bodyPr/>
          <a:lstStyle/>
          <a:p>
            <a:endParaRPr lang="pl-PL"/>
          </a:p>
        </p:txBody>
      </p:sp>
      <p:sp>
        <p:nvSpPr>
          <p:cNvPr id="18" name="Text 16"/>
          <p:cNvSpPr/>
          <p:nvPr/>
        </p:nvSpPr>
        <p:spPr>
          <a:xfrm>
            <a:off x="2103120" y="4507992"/>
            <a:ext cx="8138160" cy="274320"/>
          </a:xfrm>
          <a:prstGeom prst="rect">
            <a:avLst/>
          </a:prstGeom>
          <a:noFill/>
          <a:ln/>
        </p:spPr>
        <p:txBody>
          <a:bodyPr wrap="square" lIns="0" tIns="0" rIns="0" bIns="0" rtlCol="0" anchor="ctr"/>
          <a:lstStyle/>
          <a:p>
            <a:pPr marL="0" indent="0">
              <a:buNone/>
            </a:pPr>
            <a:r>
              <a:rPr lang="en-US" sz="2400" b="1" dirty="0">
                <a:solidFill>
                  <a:srgbClr val="E5E7EB"/>
                </a:solidFill>
              </a:rPr>
              <a:t>Nie każde UI potrzebuje DDD</a:t>
            </a:r>
            <a:endParaRPr lang="en-US" sz="2400" dirty="0"/>
          </a:p>
        </p:txBody>
      </p:sp>
      <p:sp>
        <p:nvSpPr>
          <p:cNvPr id="19" name="Shape 17"/>
          <p:cNvSpPr/>
          <p:nvPr/>
        </p:nvSpPr>
        <p:spPr>
          <a:xfrm>
            <a:off x="960120" y="5577840"/>
            <a:ext cx="10241280" cy="658368"/>
          </a:xfrm>
          <a:prstGeom prst="roundRect">
            <a:avLst>
              <a:gd name="adj" fmla="val 11111"/>
            </a:avLst>
          </a:prstGeom>
          <a:solidFill>
            <a:srgbClr val="172033"/>
          </a:solidFill>
          <a:ln w="12700">
            <a:solidFill>
              <a:srgbClr val="10B981"/>
            </a:solidFill>
            <a:prstDash val="solid"/>
          </a:ln>
        </p:spPr>
        <p:txBody>
          <a:bodyPr/>
          <a:lstStyle/>
          <a:p>
            <a:endParaRPr lang="pl-PL"/>
          </a:p>
        </p:txBody>
      </p:sp>
      <p:sp>
        <p:nvSpPr>
          <p:cNvPr id="20" name="Text 18"/>
          <p:cNvSpPr/>
          <p:nvPr/>
        </p:nvSpPr>
        <p:spPr>
          <a:xfrm>
            <a:off x="1143000" y="5788152"/>
            <a:ext cx="9875520" cy="201168"/>
          </a:xfrm>
          <a:prstGeom prst="rect">
            <a:avLst/>
          </a:prstGeom>
          <a:noFill/>
          <a:ln/>
        </p:spPr>
        <p:txBody>
          <a:bodyPr wrap="square" lIns="0" tIns="0" rIns="0" bIns="0" rtlCol="0" anchor="ctr"/>
          <a:lstStyle/>
          <a:p>
            <a:pPr marL="0" indent="0" algn="ctr">
              <a:buNone/>
            </a:pPr>
            <a:r>
              <a:rPr lang="en-US" sz="1850" b="1" dirty="0">
                <a:solidFill>
                  <a:srgbClr val="E5E7EB"/>
                </a:solidFill>
              </a:rPr>
              <a:t>To nie są zasady książkowe. To są rzeczy, które obniżają koszt utrzymania kodu.</a:t>
            </a:r>
            <a:endParaRPr lang="en-US" sz="1850" dirty="0"/>
          </a:p>
        </p:txBody>
      </p:sp>
      <p:sp>
        <p:nvSpPr>
          <p:cNvPr id="21" name="Text 19"/>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11</a:t>
            </a:r>
            <a:endParaRPr lang="en-US" sz="1000" dirty="0"/>
          </a:p>
        </p:txBody>
      </p:sp>
      <p:sp>
        <p:nvSpPr>
          <p:cNvPr id="22" name="Text 20"/>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29184"/>
          </a:xfrm>
          <a:prstGeom prst="rect">
            <a:avLst/>
          </a:prstGeom>
          <a:noFill/>
          <a:ln/>
        </p:spPr>
        <p:txBody>
          <a:bodyPr wrap="square" lIns="0" tIns="0" rIns="0" bIns="0" rtlCol="0" anchor="ctr"/>
          <a:lstStyle/>
          <a:p>
            <a:pPr marL="0" indent="0">
              <a:buNone/>
            </a:pPr>
            <a:r>
              <a:rPr lang="en-US" sz="2800" b="1" dirty="0">
                <a:solidFill>
                  <a:srgbClr val="E5E7EB"/>
                </a:solidFill>
                <a:latin typeface="Aptos Display" pitchFamily="34" charset="0"/>
                <a:ea typeface="Aptos Display" pitchFamily="34" charset="-122"/>
                <a:cs typeface="Aptos Display" pitchFamily="34" charset="-120"/>
              </a:rPr>
              <a:t>Podsumowanie i kierunek refaktoryzacji</a:t>
            </a:r>
            <a:endParaRPr lang="en-US" sz="2800" dirty="0"/>
          </a:p>
        </p:txBody>
      </p:sp>
      <p:sp>
        <p:nvSpPr>
          <p:cNvPr id="3" name="Shape 1"/>
          <p:cNvSpPr/>
          <p:nvPr/>
        </p:nvSpPr>
        <p:spPr>
          <a:xfrm>
            <a:off x="502920" y="877824"/>
            <a:ext cx="11185855" cy="0"/>
          </a:xfrm>
          <a:prstGeom prst="line">
            <a:avLst/>
          </a:prstGeom>
          <a:noFill/>
          <a:ln w="12700">
            <a:solidFill>
              <a:srgbClr val="334155"/>
            </a:solidFill>
            <a:prstDash val="solid"/>
          </a:ln>
        </p:spPr>
        <p:txBody>
          <a:bodyPr/>
          <a:lstStyle/>
          <a:p>
            <a:endParaRPr lang="pl-PL"/>
          </a:p>
        </p:txBody>
      </p:sp>
      <p:sp>
        <p:nvSpPr>
          <p:cNvPr id="4" name="Shape 2"/>
          <p:cNvSpPr/>
          <p:nvPr/>
        </p:nvSpPr>
        <p:spPr>
          <a:xfrm>
            <a:off x="502920" y="1207008"/>
            <a:ext cx="5440680" cy="3611880"/>
          </a:xfrm>
          <a:prstGeom prst="roundRect">
            <a:avLst>
              <a:gd name="adj" fmla="val 2025"/>
            </a:avLst>
          </a:prstGeom>
          <a:solidFill>
            <a:srgbClr val="172033"/>
          </a:solidFill>
          <a:ln w="12700">
            <a:solidFill>
              <a:srgbClr val="10B981"/>
            </a:solidFill>
            <a:prstDash val="solid"/>
          </a:ln>
        </p:spPr>
        <p:txBody>
          <a:bodyPr/>
          <a:lstStyle/>
          <a:p>
            <a:endParaRPr lang="pl-PL"/>
          </a:p>
        </p:txBody>
      </p:sp>
      <p:sp>
        <p:nvSpPr>
          <p:cNvPr id="5" name="Shape 3"/>
          <p:cNvSpPr/>
          <p:nvPr/>
        </p:nvSpPr>
        <p:spPr>
          <a:xfrm>
            <a:off x="6245352" y="1207008"/>
            <a:ext cx="5440680" cy="3611880"/>
          </a:xfrm>
          <a:prstGeom prst="roundRect">
            <a:avLst>
              <a:gd name="adj" fmla="val 2025"/>
            </a:avLst>
          </a:prstGeom>
          <a:solidFill>
            <a:srgbClr val="172033"/>
          </a:solidFill>
          <a:ln w="12700">
            <a:solidFill>
              <a:srgbClr val="3B82F6"/>
            </a:solidFill>
            <a:prstDash val="solid"/>
          </a:ln>
        </p:spPr>
        <p:txBody>
          <a:bodyPr/>
          <a:lstStyle/>
          <a:p>
            <a:endParaRPr lang="pl-PL"/>
          </a:p>
        </p:txBody>
      </p:sp>
      <p:sp>
        <p:nvSpPr>
          <p:cNvPr id="6" name="Text 4"/>
          <p:cNvSpPr/>
          <p:nvPr/>
        </p:nvSpPr>
        <p:spPr>
          <a:xfrm>
            <a:off x="667512" y="1389888"/>
            <a:ext cx="2926080" cy="182880"/>
          </a:xfrm>
          <a:prstGeom prst="rect">
            <a:avLst/>
          </a:prstGeom>
          <a:noFill/>
          <a:ln/>
        </p:spPr>
        <p:txBody>
          <a:bodyPr wrap="square" lIns="0" tIns="0" rIns="0" bIns="0" rtlCol="0" anchor="ctr"/>
          <a:lstStyle/>
          <a:p>
            <a:pPr marL="0" indent="0">
              <a:buNone/>
            </a:pPr>
            <a:r>
              <a:rPr lang="en-US" sz="2200" b="1" dirty="0">
                <a:solidFill>
                  <a:srgbClr val="10B981"/>
                </a:solidFill>
              </a:rPr>
              <a:t>Doc2 robi dziś dobrze</a:t>
            </a:r>
            <a:endParaRPr lang="en-US" sz="2200" dirty="0"/>
          </a:p>
        </p:txBody>
      </p:sp>
      <p:sp>
        <p:nvSpPr>
          <p:cNvPr id="7" name="Text 5"/>
          <p:cNvSpPr/>
          <p:nvPr/>
        </p:nvSpPr>
        <p:spPr>
          <a:xfrm>
            <a:off x="576072" y="1783080"/>
            <a:ext cx="164592" cy="182880"/>
          </a:xfrm>
          <a:prstGeom prst="rect">
            <a:avLst/>
          </a:prstGeom>
          <a:noFill/>
          <a:ln/>
        </p:spPr>
        <p:txBody>
          <a:bodyPr wrap="square" lIns="0" tIns="0" rIns="0" bIns="0" rtlCol="0" anchor="ctr"/>
          <a:lstStyle/>
          <a:p>
            <a:pPr marL="0" indent="0">
              <a:buNone/>
            </a:pPr>
            <a:r>
              <a:rPr lang="en-US" sz="1850" b="1" dirty="0">
                <a:solidFill>
                  <a:srgbClr val="10B981"/>
                </a:solidFill>
              </a:rPr>
              <a:t>•</a:t>
            </a:r>
            <a:endParaRPr lang="en-US" sz="1850" dirty="0"/>
          </a:p>
        </p:txBody>
      </p:sp>
      <p:sp>
        <p:nvSpPr>
          <p:cNvPr id="8" name="Text 6"/>
          <p:cNvSpPr/>
          <p:nvPr/>
        </p:nvSpPr>
        <p:spPr>
          <a:xfrm>
            <a:off x="777240" y="1773936"/>
            <a:ext cx="4828032" cy="219456"/>
          </a:xfrm>
          <a:prstGeom prst="rect">
            <a:avLst/>
          </a:prstGeom>
          <a:noFill/>
          <a:ln/>
        </p:spPr>
        <p:txBody>
          <a:bodyPr wrap="square" lIns="0" tIns="0" rIns="0" bIns="0" rtlCol="0" anchor="ctr"/>
          <a:lstStyle/>
          <a:p>
            <a:pPr marL="0" indent="0">
              <a:buNone/>
            </a:pPr>
            <a:r>
              <a:rPr lang="en-US" sz="1850" dirty="0">
                <a:solidFill>
                  <a:srgbClr val="E5E7EB"/>
                </a:solidFill>
              </a:rPr>
              <a:t>ConnectionStatusService</a:t>
            </a:r>
            <a:endParaRPr lang="en-US" sz="1850" dirty="0"/>
          </a:p>
        </p:txBody>
      </p:sp>
      <p:sp>
        <p:nvSpPr>
          <p:cNvPr id="9" name="Text 7"/>
          <p:cNvSpPr/>
          <p:nvPr/>
        </p:nvSpPr>
        <p:spPr>
          <a:xfrm>
            <a:off x="576072" y="2258568"/>
            <a:ext cx="164592" cy="182880"/>
          </a:xfrm>
          <a:prstGeom prst="rect">
            <a:avLst/>
          </a:prstGeom>
          <a:noFill/>
          <a:ln/>
        </p:spPr>
        <p:txBody>
          <a:bodyPr wrap="square" lIns="0" tIns="0" rIns="0" bIns="0" rtlCol="0" anchor="ctr"/>
          <a:lstStyle/>
          <a:p>
            <a:pPr marL="0" indent="0">
              <a:buNone/>
            </a:pPr>
            <a:r>
              <a:rPr lang="en-US" sz="1850" b="1" dirty="0">
                <a:solidFill>
                  <a:srgbClr val="10B981"/>
                </a:solidFill>
              </a:rPr>
              <a:t>•</a:t>
            </a:r>
            <a:endParaRPr lang="en-US" sz="1850" dirty="0"/>
          </a:p>
        </p:txBody>
      </p:sp>
      <p:sp>
        <p:nvSpPr>
          <p:cNvPr id="10" name="Text 8"/>
          <p:cNvSpPr/>
          <p:nvPr/>
        </p:nvSpPr>
        <p:spPr>
          <a:xfrm>
            <a:off x="777240" y="2249424"/>
            <a:ext cx="4828032" cy="219456"/>
          </a:xfrm>
          <a:prstGeom prst="rect">
            <a:avLst/>
          </a:prstGeom>
          <a:noFill/>
          <a:ln/>
        </p:spPr>
        <p:txBody>
          <a:bodyPr wrap="square" lIns="0" tIns="0" rIns="0" bIns="0" rtlCol="0" anchor="ctr"/>
          <a:lstStyle/>
          <a:p>
            <a:pPr marL="0" indent="0">
              <a:buNone/>
            </a:pPr>
            <a:r>
              <a:rPr lang="en-US" sz="1850" dirty="0">
                <a:solidFill>
                  <a:srgbClr val="E5E7EB"/>
                </a:solidFill>
              </a:rPr>
              <a:t>NotificationService</a:t>
            </a:r>
            <a:endParaRPr lang="en-US" sz="1850" dirty="0"/>
          </a:p>
        </p:txBody>
      </p:sp>
      <p:sp>
        <p:nvSpPr>
          <p:cNvPr id="11" name="Text 9"/>
          <p:cNvSpPr/>
          <p:nvPr/>
        </p:nvSpPr>
        <p:spPr>
          <a:xfrm>
            <a:off x="576072" y="2734056"/>
            <a:ext cx="164592" cy="182880"/>
          </a:xfrm>
          <a:prstGeom prst="rect">
            <a:avLst/>
          </a:prstGeom>
          <a:noFill/>
          <a:ln/>
        </p:spPr>
        <p:txBody>
          <a:bodyPr wrap="square" lIns="0" tIns="0" rIns="0" bIns="0" rtlCol="0" anchor="ctr"/>
          <a:lstStyle/>
          <a:p>
            <a:pPr marL="0" indent="0">
              <a:buNone/>
            </a:pPr>
            <a:r>
              <a:rPr lang="en-US" sz="1850" b="1" dirty="0">
                <a:solidFill>
                  <a:srgbClr val="10B981"/>
                </a:solidFill>
              </a:rPr>
              <a:t>•</a:t>
            </a:r>
            <a:endParaRPr lang="en-US" sz="1850" dirty="0"/>
          </a:p>
        </p:txBody>
      </p:sp>
      <p:sp>
        <p:nvSpPr>
          <p:cNvPr id="12" name="Text 10"/>
          <p:cNvSpPr/>
          <p:nvPr/>
        </p:nvSpPr>
        <p:spPr>
          <a:xfrm>
            <a:off x="777240" y="2724912"/>
            <a:ext cx="4828032" cy="219456"/>
          </a:xfrm>
          <a:prstGeom prst="rect">
            <a:avLst/>
          </a:prstGeom>
          <a:noFill/>
          <a:ln/>
        </p:spPr>
        <p:txBody>
          <a:bodyPr wrap="square" lIns="0" tIns="0" rIns="0" bIns="0" rtlCol="0" anchor="ctr"/>
          <a:lstStyle/>
          <a:p>
            <a:pPr marL="0" indent="0">
              <a:buNone/>
            </a:pPr>
            <a:r>
              <a:rPr lang="en-US" sz="1850" dirty="0">
                <a:solidFill>
                  <a:srgbClr val="E5E7EB"/>
                </a:solidFill>
              </a:rPr>
              <a:t>EditorToolbarComponent mówi językiem komend</a:t>
            </a:r>
            <a:endParaRPr lang="en-US" sz="1850" dirty="0"/>
          </a:p>
        </p:txBody>
      </p:sp>
      <p:sp>
        <p:nvSpPr>
          <p:cNvPr id="13" name="Text 11"/>
          <p:cNvSpPr/>
          <p:nvPr/>
        </p:nvSpPr>
        <p:spPr>
          <a:xfrm>
            <a:off x="576072" y="3209544"/>
            <a:ext cx="164592" cy="182880"/>
          </a:xfrm>
          <a:prstGeom prst="rect">
            <a:avLst/>
          </a:prstGeom>
          <a:noFill/>
          <a:ln/>
        </p:spPr>
        <p:txBody>
          <a:bodyPr wrap="square" lIns="0" tIns="0" rIns="0" bIns="0" rtlCol="0" anchor="ctr"/>
          <a:lstStyle/>
          <a:p>
            <a:pPr marL="0" indent="0">
              <a:buNone/>
            </a:pPr>
            <a:r>
              <a:rPr lang="en-US" sz="1850" b="1" dirty="0">
                <a:solidFill>
                  <a:srgbClr val="10B981"/>
                </a:solidFill>
              </a:rPr>
              <a:t>•</a:t>
            </a:r>
            <a:endParaRPr lang="en-US" sz="1850" dirty="0"/>
          </a:p>
        </p:txBody>
      </p:sp>
      <p:sp>
        <p:nvSpPr>
          <p:cNvPr id="14" name="Text 12"/>
          <p:cNvSpPr/>
          <p:nvPr/>
        </p:nvSpPr>
        <p:spPr>
          <a:xfrm>
            <a:off x="777240" y="3200400"/>
            <a:ext cx="4828032" cy="219456"/>
          </a:xfrm>
          <a:prstGeom prst="rect">
            <a:avLst/>
          </a:prstGeom>
          <a:noFill/>
          <a:ln/>
        </p:spPr>
        <p:txBody>
          <a:bodyPr wrap="square" lIns="0" tIns="0" rIns="0" bIns="0" rtlCol="0" anchor="ctr"/>
          <a:lstStyle/>
          <a:p>
            <a:pPr marL="0" indent="0">
              <a:buNone/>
            </a:pPr>
            <a:r>
              <a:rPr lang="en-US" sz="1850" dirty="0">
                <a:solidFill>
                  <a:srgbClr val="E5E7EB"/>
                </a:solidFill>
              </a:rPr>
              <a:t>backend ma czysty command handler</a:t>
            </a:r>
            <a:endParaRPr lang="en-US" sz="1850" dirty="0"/>
          </a:p>
        </p:txBody>
      </p:sp>
      <p:sp>
        <p:nvSpPr>
          <p:cNvPr id="15" name="Text 13"/>
          <p:cNvSpPr/>
          <p:nvPr/>
        </p:nvSpPr>
        <p:spPr>
          <a:xfrm>
            <a:off x="6409944" y="1389888"/>
            <a:ext cx="2926080" cy="182880"/>
          </a:xfrm>
          <a:prstGeom prst="rect">
            <a:avLst/>
          </a:prstGeom>
          <a:noFill/>
          <a:ln/>
        </p:spPr>
        <p:txBody>
          <a:bodyPr wrap="square" lIns="0" tIns="0" rIns="0" bIns="0" rtlCol="0" anchor="ctr"/>
          <a:lstStyle/>
          <a:p>
            <a:pPr marL="0" indent="0">
              <a:buNone/>
            </a:pPr>
            <a:r>
              <a:rPr lang="en-US" sz="2200" b="1" dirty="0">
                <a:solidFill>
                  <a:srgbClr val="3B82F6"/>
                </a:solidFill>
              </a:rPr>
              <a:t>Kierunek na jutro</a:t>
            </a:r>
            <a:endParaRPr lang="en-US" sz="2200" dirty="0"/>
          </a:p>
        </p:txBody>
      </p:sp>
      <p:sp>
        <p:nvSpPr>
          <p:cNvPr id="16" name="Text 14"/>
          <p:cNvSpPr/>
          <p:nvPr/>
        </p:nvSpPr>
        <p:spPr>
          <a:xfrm>
            <a:off x="6336792" y="1783080"/>
            <a:ext cx="164592" cy="182880"/>
          </a:xfrm>
          <a:prstGeom prst="rect">
            <a:avLst/>
          </a:prstGeom>
          <a:noFill/>
          <a:ln/>
        </p:spPr>
        <p:txBody>
          <a:bodyPr wrap="square" lIns="0" tIns="0" rIns="0" bIns="0" rtlCol="0" anchor="ctr"/>
          <a:lstStyle/>
          <a:p>
            <a:pPr marL="0" indent="0">
              <a:buNone/>
            </a:pPr>
            <a:r>
              <a:rPr lang="en-US" sz="1850" b="1" dirty="0">
                <a:solidFill>
                  <a:srgbClr val="3B82F6"/>
                </a:solidFill>
              </a:rPr>
              <a:t>•</a:t>
            </a:r>
            <a:endParaRPr lang="en-US" sz="1850" dirty="0"/>
          </a:p>
        </p:txBody>
      </p:sp>
      <p:sp>
        <p:nvSpPr>
          <p:cNvPr id="17" name="Text 15"/>
          <p:cNvSpPr/>
          <p:nvPr/>
        </p:nvSpPr>
        <p:spPr>
          <a:xfrm>
            <a:off x="6537960" y="1773936"/>
            <a:ext cx="4736592" cy="219456"/>
          </a:xfrm>
          <a:prstGeom prst="rect">
            <a:avLst/>
          </a:prstGeom>
          <a:noFill/>
          <a:ln/>
        </p:spPr>
        <p:txBody>
          <a:bodyPr wrap="square" lIns="0" tIns="0" rIns="0" bIns="0" rtlCol="0" anchor="ctr"/>
          <a:lstStyle/>
          <a:p>
            <a:pPr marL="0" indent="0">
              <a:buNone/>
            </a:pPr>
            <a:r>
              <a:rPr lang="en-US" sz="1850" dirty="0">
                <a:solidFill>
                  <a:srgbClr val="E5E7EB"/>
                </a:solidFill>
              </a:rPr>
              <a:t>DocumentEditorFacade</a:t>
            </a:r>
            <a:endParaRPr lang="en-US" sz="1850" dirty="0"/>
          </a:p>
        </p:txBody>
      </p:sp>
      <p:sp>
        <p:nvSpPr>
          <p:cNvPr id="18" name="Text 16"/>
          <p:cNvSpPr/>
          <p:nvPr/>
        </p:nvSpPr>
        <p:spPr>
          <a:xfrm>
            <a:off x="6336792" y="2258568"/>
            <a:ext cx="164592" cy="182880"/>
          </a:xfrm>
          <a:prstGeom prst="rect">
            <a:avLst/>
          </a:prstGeom>
          <a:noFill/>
          <a:ln/>
        </p:spPr>
        <p:txBody>
          <a:bodyPr wrap="square" lIns="0" tIns="0" rIns="0" bIns="0" rtlCol="0" anchor="ctr"/>
          <a:lstStyle/>
          <a:p>
            <a:pPr marL="0" indent="0">
              <a:buNone/>
            </a:pPr>
            <a:r>
              <a:rPr lang="en-US" sz="1850" b="1" dirty="0">
                <a:solidFill>
                  <a:srgbClr val="3B82F6"/>
                </a:solidFill>
              </a:rPr>
              <a:t>•</a:t>
            </a:r>
            <a:endParaRPr lang="en-US" sz="1850" dirty="0"/>
          </a:p>
        </p:txBody>
      </p:sp>
      <p:sp>
        <p:nvSpPr>
          <p:cNvPr id="19" name="Text 17"/>
          <p:cNvSpPr/>
          <p:nvPr/>
        </p:nvSpPr>
        <p:spPr>
          <a:xfrm>
            <a:off x="6537960" y="2249424"/>
            <a:ext cx="4736592" cy="219456"/>
          </a:xfrm>
          <a:prstGeom prst="rect">
            <a:avLst/>
          </a:prstGeom>
          <a:noFill/>
          <a:ln/>
        </p:spPr>
        <p:txBody>
          <a:bodyPr wrap="square" lIns="0" tIns="0" rIns="0" bIns="0" rtlCol="0" anchor="ctr"/>
          <a:lstStyle/>
          <a:p>
            <a:pPr marL="0" indent="0">
              <a:buNone/>
            </a:pPr>
            <a:r>
              <a:rPr lang="en-US" sz="1850" dirty="0">
                <a:solidFill>
                  <a:srgbClr val="E5E7EB"/>
                </a:solidFill>
              </a:rPr>
              <a:t>use case’y: save / load / autosave</a:t>
            </a:r>
            <a:endParaRPr lang="en-US" sz="1850" dirty="0"/>
          </a:p>
        </p:txBody>
      </p:sp>
      <p:sp>
        <p:nvSpPr>
          <p:cNvPr id="20" name="Text 18"/>
          <p:cNvSpPr/>
          <p:nvPr/>
        </p:nvSpPr>
        <p:spPr>
          <a:xfrm>
            <a:off x="6336792" y="2734056"/>
            <a:ext cx="164592" cy="182880"/>
          </a:xfrm>
          <a:prstGeom prst="rect">
            <a:avLst/>
          </a:prstGeom>
          <a:noFill/>
          <a:ln/>
        </p:spPr>
        <p:txBody>
          <a:bodyPr wrap="square" lIns="0" tIns="0" rIns="0" bIns="0" rtlCol="0" anchor="ctr"/>
          <a:lstStyle/>
          <a:p>
            <a:pPr marL="0" indent="0">
              <a:buNone/>
            </a:pPr>
            <a:r>
              <a:rPr lang="en-US" sz="1850" b="1" dirty="0">
                <a:solidFill>
                  <a:srgbClr val="3B82F6"/>
                </a:solidFill>
              </a:rPr>
              <a:t>•</a:t>
            </a:r>
            <a:endParaRPr lang="en-US" sz="1850" dirty="0"/>
          </a:p>
        </p:txBody>
      </p:sp>
      <p:sp>
        <p:nvSpPr>
          <p:cNvPr id="21" name="Text 19"/>
          <p:cNvSpPr/>
          <p:nvPr/>
        </p:nvSpPr>
        <p:spPr>
          <a:xfrm>
            <a:off x="6537960" y="2724912"/>
            <a:ext cx="4736592" cy="219456"/>
          </a:xfrm>
          <a:prstGeom prst="rect">
            <a:avLst/>
          </a:prstGeom>
          <a:noFill/>
          <a:ln/>
        </p:spPr>
        <p:txBody>
          <a:bodyPr wrap="square" lIns="0" tIns="0" rIns="0" bIns="0" rtlCol="0" anchor="ctr"/>
          <a:lstStyle/>
          <a:p>
            <a:pPr marL="0" indent="0">
              <a:buNone/>
            </a:pPr>
            <a:r>
              <a:rPr lang="en-US" sz="1850" dirty="0">
                <a:solidFill>
                  <a:srgbClr val="E5E7EB"/>
                </a:solidFill>
              </a:rPr>
              <a:t>mapowanie DTO → model frontowy</a:t>
            </a:r>
            <a:endParaRPr lang="en-US" sz="1850" dirty="0"/>
          </a:p>
        </p:txBody>
      </p:sp>
      <p:sp>
        <p:nvSpPr>
          <p:cNvPr id="22" name="Text 20"/>
          <p:cNvSpPr/>
          <p:nvPr/>
        </p:nvSpPr>
        <p:spPr>
          <a:xfrm>
            <a:off x="6336792" y="3209544"/>
            <a:ext cx="164592" cy="182880"/>
          </a:xfrm>
          <a:prstGeom prst="rect">
            <a:avLst/>
          </a:prstGeom>
          <a:noFill/>
          <a:ln/>
        </p:spPr>
        <p:txBody>
          <a:bodyPr wrap="square" lIns="0" tIns="0" rIns="0" bIns="0" rtlCol="0" anchor="ctr"/>
          <a:lstStyle/>
          <a:p>
            <a:pPr marL="0" indent="0">
              <a:buNone/>
            </a:pPr>
            <a:r>
              <a:rPr lang="en-US" sz="1850" b="1" dirty="0">
                <a:solidFill>
                  <a:srgbClr val="3B82F6"/>
                </a:solidFill>
              </a:rPr>
              <a:t>•</a:t>
            </a:r>
            <a:endParaRPr lang="en-US" sz="1850" dirty="0"/>
          </a:p>
        </p:txBody>
      </p:sp>
      <p:sp>
        <p:nvSpPr>
          <p:cNvPr id="23" name="Text 21"/>
          <p:cNvSpPr/>
          <p:nvPr/>
        </p:nvSpPr>
        <p:spPr>
          <a:xfrm>
            <a:off x="6537960" y="3200400"/>
            <a:ext cx="4736592" cy="219456"/>
          </a:xfrm>
          <a:prstGeom prst="rect">
            <a:avLst/>
          </a:prstGeom>
          <a:noFill/>
          <a:ln/>
        </p:spPr>
        <p:txBody>
          <a:bodyPr wrap="square" lIns="0" tIns="0" rIns="0" bIns="0" rtlCol="0" anchor="ctr"/>
          <a:lstStyle/>
          <a:p>
            <a:pPr marL="0" indent="0">
              <a:buNone/>
            </a:pPr>
            <a:r>
              <a:rPr lang="en-US" sz="1850" dirty="0">
                <a:solidFill>
                  <a:srgbClr val="E5E7EB"/>
                </a:solidFill>
              </a:rPr>
              <a:t>oddzielenie UI state od document state</a:t>
            </a:r>
            <a:endParaRPr lang="en-US" sz="1850" dirty="0"/>
          </a:p>
        </p:txBody>
      </p:sp>
      <p:sp>
        <p:nvSpPr>
          <p:cNvPr id="24" name="Shape 22"/>
          <p:cNvSpPr/>
          <p:nvPr/>
        </p:nvSpPr>
        <p:spPr>
          <a:xfrm>
            <a:off x="502920" y="5285232"/>
            <a:ext cx="11185855" cy="822960"/>
          </a:xfrm>
          <a:prstGeom prst="roundRect">
            <a:avLst>
              <a:gd name="adj" fmla="val 8889"/>
            </a:avLst>
          </a:prstGeom>
          <a:solidFill>
            <a:srgbClr val="111827"/>
          </a:solidFill>
          <a:ln w="12700">
            <a:solidFill>
              <a:srgbClr val="22D3EE"/>
            </a:solidFill>
            <a:prstDash val="solid"/>
          </a:ln>
        </p:spPr>
        <p:txBody>
          <a:bodyPr/>
          <a:lstStyle/>
          <a:p>
            <a:endParaRPr lang="pl-PL"/>
          </a:p>
        </p:txBody>
      </p:sp>
      <p:sp>
        <p:nvSpPr>
          <p:cNvPr id="25" name="Text 23"/>
          <p:cNvSpPr/>
          <p:nvPr/>
        </p:nvSpPr>
        <p:spPr>
          <a:xfrm>
            <a:off x="667512" y="5504688"/>
            <a:ext cx="10856671" cy="384048"/>
          </a:xfrm>
          <a:prstGeom prst="rect">
            <a:avLst/>
          </a:prstGeom>
          <a:noFill/>
          <a:ln/>
        </p:spPr>
        <p:txBody>
          <a:bodyPr wrap="square" lIns="0" tIns="0" rIns="0" bIns="0" rtlCol="0" anchor="ctr"/>
          <a:lstStyle/>
          <a:p>
            <a:pPr marL="0" indent="0" algn="ctr">
              <a:buNone/>
            </a:pPr>
            <a:r>
              <a:rPr lang="en-US" sz="2200" b="1" dirty="0">
                <a:solidFill>
                  <a:srgbClr val="E5E7EB"/>
                </a:solidFill>
              </a:rPr>
              <a:t>Signals świetnie modelują to, jak aplikacja reaguje.</a:t>
            </a:r>
            <a:endParaRPr lang="en-US" sz="2200" dirty="0"/>
          </a:p>
          <a:p>
            <a:pPr marL="0" indent="0" algn="ctr">
              <a:buNone/>
            </a:pPr>
            <a:r>
              <a:rPr lang="en-US" sz="2200" b="1" dirty="0">
                <a:solidFill>
                  <a:srgbClr val="E5E7EB"/>
                </a:solidFill>
              </a:rPr>
              <a:t>DDD pomaga zdecydować, co naprawdę ma znaczenie.</a:t>
            </a:r>
            <a:endParaRPr lang="en-US" sz="2200" dirty="0"/>
          </a:p>
        </p:txBody>
      </p:sp>
      <p:sp>
        <p:nvSpPr>
          <p:cNvPr id="26" name="Text 24"/>
          <p:cNvSpPr/>
          <p:nvPr/>
        </p:nvSpPr>
        <p:spPr>
          <a:xfrm>
            <a:off x="11624767" y="6492240"/>
            <a:ext cx="201168" cy="146304"/>
          </a:xfrm>
          <a:prstGeom prst="rect">
            <a:avLst/>
          </a:prstGeom>
          <a:noFill/>
          <a:ln/>
        </p:spPr>
        <p:txBody>
          <a:bodyPr wrap="square" lIns="0" tIns="0" rIns="0" bIns="0" rtlCol="0" anchor="ctr"/>
          <a:lstStyle/>
          <a:p>
            <a:pPr marL="0" indent="0" algn="r">
              <a:buNone/>
            </a:pPr>
            <a:r>
              <a:rPr lang="en-US" sz="1000" dirty="0">
                <a:solidFill>
                  <a:srgbClr val="94A3B8"/>
                </a:solidFill>
              </a:rPr>
              <a:t>12</a:t>
            </a:r>
            <a:endParaRPr lang="en-US" sz="1000" dirty="0"/>
          </a:p>
        </p:txBody>
      </p:sp>
      <p:sp>
        <p:nvSpPr>
          <p:cNvPr id="27" name="Text 25"/>
          <p:cNvSpPr/>
          <p:nvPr/>
        </p:nvSpPr>
        <p:spPr>
          <a:xfrm>
            <a:off x="502920" y="6492240"/>
            <a:ext cx="3108960" cy="146304"/>
          </a:xfrm>
          <a:prstGeom prst="rect">
            <a:avLst/>
          </a:prstGeom>
          <a:noFill/>
          <a:ln/>
        </p:spPr>
        <p:txBody>
          <a:bodyPr wrap="square" lIns="0" tIns="0" rIns="0" bIns="0" rtlCol="0" anchor="ctr"/>
          <a:lstStyle/>
          <a:p>
            <a:pPr marL="0" indent="0">
              <a:buNone/>
            </a:pPr>
            <a:r>
              <a:rPr lang="en-US" sz="1000" dirty="0">
                <a:solidFill>
                  <a:srgbClr val="94A3B8"/>
                </a:solidFill>
              </a:rPr>
              <a:t>Doc2 • Angular Signals + DDD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3445</Words>
  <Application>Microsoft Office PowerPoint</Application>
  <PresentationFormat>Panoramiczny</PresentationFormat>
  <Paragraphs>242</Paragraphs>
  <Slides>12</Slides>
  <Notes>12</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12</vt:i4>
      </vt:variant>
    </vt:vector>
  </HeadingPairs>
  <TitlesOfParts>
    <vt:vector size="17" baseType="lpstr">
      <vt:lpstr>Aptos</vt:lpstr>
      <vt:lpstr>Aptos Display</vt:lpstr>
      <vt:lpstr>Arial</vt:lpstr>
      <vt:lpstr>Consolas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Signals i DDD — Doc2</dc:title>
  <dc:subject>Angular Signals i DDD — Doc2</dc:subject>
  <dc:creator>OpenAI</dc:creator>
  <cp:lastModifiedBy>Krzysztof Rybka</cp:lastModifiedBy>
  <cp:revision>5</cp:revision>
  <dcterms:created xsi:type="dcterms:W3CDTF">2026-04-13T20:43:58Z</dcterms:created>
  <dcterms:modified xsi:type="dcterms:W3CDTF">2026-04-13T21:14:24Z</dcterms:modified>
</cp:coreProperties>
</file>